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1" r:id="rId3"/>
    <p:sldId id="284" r:id="rId4"/>
    <p:sldId id="285" r:id="rId5"/>
    <p:sldId id="257" r:id="rId6"/>
    <p:sldId id="258" r:id="rId7"/>
    <p:sldId id="265" r:id="rId8"/>
    <p:sldId id="260" r:id="rId9"/>
    <p:sldId id="264" r:id="rId10"/>
    <p:sldId id="267" r:id="rId11"/>
    <p:sldId id="266" r:id="rId12"/>
    <p:sldId id="268" r:id="rId13"/>
    <p:sldId id="272" r:id="rId14"/>
    <p:sldId id="277" r:id="rId15"/>
    <p:sldId id="276" r:id="rId16"/>
    <p:sldId id="269" r:id="rId17"/>
    <p:sldId id="282" r:id="rId18"/>
    <p:sldId id="283" r:id="rId19"/>
    <p:sldId id="279" r:id="rId20"/>
    <p:sldId id="28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829" autoAdjust="0"/>
  </p:normalViewPr>
  <p:slideViewPr>
    <p:cSldViewPr snapToGrid="0">
      <p:cViewPr>
        <p:scale>
          <a:sx n="115" d="100"/>
          <a:sy n="115" d="100"/>
        </p:scale>
        <p:origin x="-432" y="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Знаете свой знак</a:t>
            </a:r>
            <a:r>
              <a:rPr lang="en-US" sz="1400" baseline="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зодиака?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81191840378956"/>
          <c:y val="0.25732131452546181"/>
          <c:w val="0.3885990192426213"/>
          <c:h val="0.66803390864885326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Знаете свой знак зодиака?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6AE-417A-9D43-2204628705C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6AE-417A-9D43-2204628705C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Лист1!$B$2:$B$3</c:f>
              <c:numCache>
                <c:formatCode>0%</c:formatCode>
                <c:ptCount val="2"/>
                <c:pt idx="0">
                  <c:v>0.97</c:v>
                </c:pt>
                <c:pt idx="1">
                  <c:v>0.03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558-4370-9AF2-0855B97DD04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endParaRPr lang="ru-RU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Roboto Slab" pitchFamily="2" charset="0"/>
              <a:ea typeface="Roboto Slab" pitchFamily="2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r>
              <a:rPr lang="ru-RU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Читаете гороскопы?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3812477024759499"/>
          <c:y val="0.21656423265289909"/>
          <c:w val="0.427770845263787"/>
          <c:h val="0.67207015365756873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Читаете гороскопы?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95A-495D-8400-37BFC871809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95A-495D-8400-37BFC87180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Лист1!$B$2:$B$3</c:f>
              <c:numCache>
                <c:formatCode>0%</c:formatCode>
                <c:ptCount val="2"/>
                <c:pt idx="0">
                  <c:v>0.42</c:v>
                </c:pt>
                <c:pt idx="1">
                  <c:v>0.57999999999999996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2B5-438D-8600-9956E585227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endParaRPr lang="ru-RU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+mn-cs"/>
              </a:defRPr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Как относитесь к сверхъестественному?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2823678838695768"/>
          <c:y val="0.25319665530798557"/>
          <c:w val="0.34310041370796979"/>
          <c:h val="0.63173251576531775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Как относитесь к сверхъестественному?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99C2-4776-B6A0-0F8855BC831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99C2-4776-B6A0-0F8855BC831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9D7-4039-B881-C48C1AB350C3}"/>
              </c:ext>
            </c:extLst>
          </c:dPt>
          <c:dLbls>
            <c:dLbl>
              <c:idx val="2"/>
              <c:layout>
                <c:manualLayout>
                  <c:x val="5.0590551181102358E-3"/>
                  <c:y val="1.3756150728583248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9D7-4039-B881-C48C1AB350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Скептически</c:v>
                </c:pt>
                <c:pt idx="1">
                  <c:v>Нормально</c:v>
                </c:pt>
                <c:pt idx="2">
                  <c:v>Затрудняюсь ответить</c:v>
                </c:pt>
              </c:strCache>
            </c:strRef>
          </c:cat>
          <c:val>
            <c:numRef>
              <c:f>Лист1!$B$2:$B$4</c:f>
              <c:numCache>
                <c:formatCode>0%</c:formatCode>
                <c:ptCount val="3"/>
                <c:pt idx="0">
                  <c:v>0.24</c:v>
                </c:pt>
                <c:pt idx="1">
                  <c:v>0.73</c:v>
                </c:pt>
                <c:pt idx="2">
                  <c:v>0.03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9D7-4039-B881-C48C1AB350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848171054813752"/>
          <c:y val="0.28463616441668982"/>
          <c:w val="0.27238043136031365"/>
          <c:h val="0.558983579995652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0" i="0" u="none" strike="noStrike" kern="1200" baseline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29897-DE00-4DF9-9C41-835CDB6D5FA8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573D5-2056-417A-BCF2-81BB22B23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4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7540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66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00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29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67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45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39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29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99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7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8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9C03-D7CB-499E-A904-7668E9D76CC4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A1E40-911C-4863-ACE1-11B503E0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874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2400" y="147070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Разработка мобильного приложения </a:t>
            </a: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«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MYstic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5527" y="315884"/>
            <a:ext cx="9144000" cy="1441466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Бюджетное учреждение профессионального образования</a:t>
            </a:r>
            <a:b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Ханты-Мансийского автономного округа-Югры</a:t>
            </a:r>
            <a:b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«</a:t>
            </a:r>
            <a:r>
              <a:rPr lang="ru-RU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Нижневартовский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социально-гуманитарный колледж»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0" y="5378315"/>
            <a:ext cx="9144000" cy="1441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Симеонидис</a:t>
            </a:r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Феона</a:t>
            </a:r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Александросовна</a:t>
            </a:r>
            <a:endParaRPr lang="ru-RU" dirty="0" smtClean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l"/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Группа 422 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ИСВ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руководитель: </a:t>
            </a:r>
          </a:p>
          <a:p>
            <a:pPr algn="l"/>
            <a:r>
              <a:rPr lang="ru-RU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Комаровских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 Анна Владимировна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5373231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Сараева Вероника Владимировна</a:t>
            </a:r>
          </a:p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Группа 422 </a:t>
            </a:r>
            <a:r>
              <a:rPr lang="ru-RU" sz="2200" dirty="0">
                <a:solidFill>
                  <a:schemeClr val="bg1"/>
                </a:solidFill>
                <a:latin typeface="Bookman Old Style" panose="02050604050505020204" pitchFamily="18" charset="0"/>
              </a:rPr>
              <a:t>ИСВ</a:t>
            </a:r>
          </a:p>
          <a:p>
            <a:pPr algn="r"/>
            <a:r>
              <a:rPr lang="ru-RU" sz="2200" dirty="0">
                <a:solidFill>
                  <a:schemeClr val="bg1"/>
                </a:solidFill>
                <a:latin typeface="Bookman Old Style" panose="02050604050505020204" pitchFamily="18" charset="0"/>
              </a:rPr>
              <a:t>руководитель: </a:t>
            </a:r>
          </a:p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Север Анна Александровна</a:t>
            </a:r>
            <a:endParaRPr lang="ru-RU" sz="2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37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Актуальность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1328" y="1443240"/>
            <a:ext cx="1040060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1800" dirty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</a:t>
            </a:r>
            <a:r>
              <a:rPr lang="ru-RU" sz="1800" dirty="0" smtClean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исследования: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 популярности приложений в сфере самопознания, психологии и эзотерики обусловлен потребностью пользователей в персонализированном интерактивном контенте (гороскопы, гадания, тесты). Для успешной реализации таких проектов требуется комплексный подход, сочетающий удобный интерфейс, безопасное хранение персональных данных, гибкую систему монетизации (премиум-подписка) и возможность офлайн-доступа. Это определяет актуальность задач по выбору технологического стека и проектированию архитектуры, решаемых в рамках данной выпускной квалификационной работы. </a:t>
            </a:r>
            <a:endParaRPr lang="ru-RU" sz="1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ru-RU" sz="1800" dirty="0" smtClean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для эзотерических прогнозов (астрология и таро). </a:t>
            </a:r>
            <a:endParaRPr lang="ru-RU" sz="1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ru-RU" sz="1800" dirty="0" smtClean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проектирования и разработки мобильного приложения, обеспечивающего формирование астрологических прогнозов и таро-предсказаний для пользователя. </a:t>
            </a:r>
            <a:r>
              <a:rPr lang="ru-RU" sz="1800" dirty="0">
                <a:solidFill>
                  <a:schemeClr val="bg1"/>
                </a:solidFill>
              </a:rPr>
              <a:t/>
            </a:r>
            <a:br>
              <a:rPr lang="ru-RU" sz="1800" dirty="0">
                <a:solidFill>
                  <a:schemeClr val="bg1"/>
                </a:solidFill>
              </a:rPr>
            </a:br>
            <a:endParaRPr lang="ru-RU" sz="18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90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Цель и задачи 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1328" y="1443240"/>
            <a:ext cx="1040060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1400" b="1" dirty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sz="1400" b="1" dirty="0" smtClean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описание мобильного приложения «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MYstic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для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предоставляющего функционал гадания на Таро, персонального гороскопа, матрицы судьбы, психологических тестов, а также системы авторизации и премиум-подписки. </a:t>
            </a:r>
            <a:endParaRPr lang="ru-RU" sz="1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ru-RU" sz="1400" b="1" dirty="0" smtClean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ru-RU" sz="1400" b="1" dirty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 </a:t>
            </a:r>
            <a:endParaRPr lang="ru-RU" sz="1400" b="1" dirty="0" smtClean="0">
              <a:solidFill>
                <a:srgbClr val="FFD9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аналогов и сформулировать требования к приложению. </a:t>
            </a:r>
            <a:endParaRPr lang="ru-RU" sz="1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технологического стека (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sz="1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структуру приложения, навигацию, схему базы данных и систему управления состоянием. 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авторизации (регистрация, вход, гостевой режим). 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функциональные разделы: «Таро», «Гороскопы и Матрица судьбы», «Психологические тесты». 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 и механизм премиум-подписки с ограничением доступа. 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логирование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пользовательских действий. 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документацию, описывающую реализацию проекта.</a:t>
            </a: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2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Описание предметной области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1328" y="1443240"/>
            <a:ext cx="1040060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1300" b="1" dirty="0">
                <a:solidFill>
                  <a:srgbClr val="FFD9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областью проекта являются сервисы самопознания и развлекательной мистики, реализованные в формате мобильного приложения. Ключевые сущности и процессы включают: </a:t>
            </a:r>
            <a:endParaRPr lang="ru-RU" sz="1300" b="1" dirty="0" smtClean="0">
              <a:solidFill>
                <a:srgbClr val="FFD9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Гадание 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картах Таро: Процесс генерации случайной выборки карт из колоды для заданного расклада (например, «Карта дня», «Три карты») с последующим отображением описания и интерпретации. Доступ к части раскладов ограничен премиум-подпиской. </a:t>
            </a:r>
            <a:endParaRPr lang="ru-RU" sz="13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Персональный 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гороскоп: Формирование текстового прогноза на основе знака зодиака, определяемого по дате рождения пользователя. </a:t>
            </a:r>
            <a:endParaRPr lang="ru-RU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Нумерологический 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(Матрица судьбы): Построение и визуализация нумерологической схемы на основе даты рождения пользователя с выводом расшифровки значений. </a:t>
            </a:r>
            <a:endParaRPr lang="ru-RU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Психологические 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тесты: Интерактивные опросники (включая методики, аналогичные тесту </a:t>
            </a:r>
            <a:r>
              <a:rPr lang="ru-RU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Клифтона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где на основе ответов пользователя вычисляется результат и отображается интерпретация. Часть тестов является премиум-контентом. </a:t>
            </a:r>
            <a:endParaRPr lang="ru-RU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AutoNum type="arabicPeriod"/>
            </a:pPr>
            <a:r>
              <a:rPr lang="ru-RU" sz="13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пользователями и монетизация: Поддержка гостевого режима и авторизованных пользователей (по e-</a:t>
            </a:r>
            <a:r>
              <a:rPr lang="ru-RU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паролю) с хранением данных локально на устройстве (</a:t>
            </a:r>
            <a:r>
              <a:rPr lang="ru-RU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Монетизация реализована через премиум-подписку, открывающую расширенный функционал. Попытка оформить подписку без авторизации инициирует переход на экран входа.</a:t>
            </a:r>
            <a:endParaRPr lang="ru-RU" sz="1300" dirty="0">
              <a:solidFill>
                <a:schemeClr val="bg1"/>
              </a:solidFill>
              <a:latin typeface="Times New Roman" panose="02020603050405020304" pitchFamily="18" charset="0"/>
              <a:ea typeface="Roboto Slab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21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Проблема, потребность, которую решает продукт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2354" y="2147207"/>
            <a:ext cx="7321446" cy="40297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ru-RU" sz="1400" kern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Современные люди, особенно молодые взрослые, испытывают потребность в самопознании, поиске смысла жизни и ответов на вопросы о своем предназначении. Однако доступные инструменты для этого (традиционные гороскопы, эзотерические книги, консультации астрологов) часто сложны, труднодоступны, дороги или </a:t>
            </a:r>
            <a:r>
              <a:rPr lang="ru-RU" sz="1400" kern="1400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неинтерактивны</a:t>
            </a:r>
            <a:r>
              <a:rPr lang="ru-RU" sz="1400" kern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. Проблема заключается в отсутствии доступного, интерактивного и персонализированного мобильного приложения, которое объединяет гадания, астрологические прогнозы, матрицу судьбы и развлекательные тесты в одном месте. Пользователи хотят простое, увлекательное и визуально привлекательное решение, которое помогает им лучше понять себя, свои сильные стороны и жизненные цели, не требуя глубоких знаний в психологии, астрологии или эзотерике.</a:t>
            </a:r>
          </a:p>
        </p:txBody>
      </p:sp>
      <p:pic>
        <p:nvPicPr>
          <p:cNvPr id="1028" name="Picture 4" descr="Open lock Generic color fill icon">
            <a:extLst>
              <a:ext uri="{FF2B5EF4-FFF2-40B4-BE49-F238E27FC236}">
                <a16:creationId xmlns:a16="http://schemas.microsoft.com/office/drawing/2014/main" xmlns="" id="{6B7E04A3-040F-4975-9D4B-A693560A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8890"/>
            <a:ext cx="267652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94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Идея/Принцип продукта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7419975" cy="4486275"/>
          </a:xfrm>
        </p:spPr>
        <p:txBody>
          <a:bodyPr>
            <a:normAutofit/>
          </a:bodyPr>
          <a:lstStyle/>
          <a:p>
            <a:pPr marL="0" indent="0" algn="just" rtl="0">
              <a:lnSpc>
                <a:spcPct val="170000"/>
              </a:lnSpc>
              <a:buNone/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Мобильное приложение </a:t>
            </a:r>
            <a:r>
              <a:rPr lang="en-US" sz="12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MYstic</a:t>
            </a:r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— это интерактивная платформа для самопознания и развлечения, объединяющая гадания, матрицу судьбы, гороскопы и тесты. Приложение позволяет пользователям: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Получать персонализированные гадания (с ограничением 3 раза в день в бесплатной версии).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Рассчитывать матрицу судьбы на основе даты рождения с расшифровкой (часть функций доступна только по подписке).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Просматривать ежедневную карту Таро, которая фиксируется на 24 часа.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Читать персонализированные гороскопы с указанием подходящих камней и тотемных животных.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Проходить развлекательные</a:t>
            </a:r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и эксклюзивные тесты (по типу Теста по методике </a:t>
            </a:r>
            <a:r>
              <a:rPr lang="ru-RU" sz="1200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Клифтона</a:t>
            </a:r>
            <a:r>
              <a:rPr lang="ru-RU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). Приложение использует простой и интуитивный интерфейс, делая эзотерические практики доступными для широкой аудитории. Монетизация реализована через премиум-подписку (990 рублей в месяц) для безлимитных гаданий и дополнительных функций</a:t>
            </a:r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.</a:t>
            </a:r>
            <a:endParaRPr lang="ru-RU" sz="1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276902B-B317-4C32-8BB7-23F6655C4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019300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Целевая аудитория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6743700" cy="4351338"/>
          </a:xfrm>
        </p:spPr>
        <p:txBody>
          <a:bodyPr>
            <a:normAutofit fontScale="70000" lnSpcReduction="20000"/>
          </a:bodyPr>
          <a:lstStyle/>
          <a:p>
            <a:pPr marL="0" indent="0" algn="just" rtl="0">
              <a:lnSpc>
                <a:spcPct val="170000"/>
              </a:lnSpc>
              <a:buNone/>
            </a:pPr>
            <a:r>
              <a:rPr lang="ru-RU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Основная аудитория</a:t>
            </a:r>
            <a:r>
              <a:rPr lang="ru-RU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2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Молодые и взрослые (18–35 лет), преимущественно женщины, интересующиеся астрологией, эзотерикой и самопознанием.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2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Люди, ищущие развлекательные, эксклюзивные и интерактивные способы понять себя или принять решения.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sz="2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Пользователи, которые хотят легкий доступ к персонализированным гороскопам и гаданиям без необходимости изучать сложные системы.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1AA528E-3EAA-4E4D-9515-3C739D8F9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219200"/>
            <a:ext cx="3314700" cy="4419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5691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Целевая аудитория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6267450" cy="4351338"/>
          </a:xfrm>
        </p:spPr>
        <p:txBody>
          <a:bodyPr>
            <a:normAutofit fontScale="62500" lnSpcReduction="20000"/>
          </a:bodyPr>
          <a:lstStyle/>
          <a:p>
            <a:pPr marL="0" indent="0" algn="just" rtl="0">
              <a:lnSpc>
                <a:spcPct val="170000"/>
              </a:lnSpc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Почему им нужен продукт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</a:t>
            </a:r>
          </a:p>
          <a:p>
            <a:pPr algn="just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Увлечение астрологией и эзотерикой растет: согласно исследованиям, 42% россиян читают гороскопы (ВЦИОМ, 2024).</a:t>
            </a:r>
          </a:p>
          <a:p>
            <a:pPr algn="just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Пользователи ценят персонализированные и интерактивные решения, которые экономят время и не требуют глубоких знаний.</a:t>
            </a:r>
          </a:p>
          <a:p>
            <a:pPr algn="just" rtl="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Развлекательные тесты и ежедневные гадания привлекают тех, кто ищет легкий и увлекательный контент для досуга.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xmlns="" id="{95090B20-3E6B-488E-BBAE-DCCC0CE0C2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3281874"/>
              </p:ext>
            </p:extLst>
          </p:nvPr>
        </p:nvGraphicFramePr>
        <p:xfrm>
          <a:off x="8031772" y="317571"/>
          <a:ext cx="3223846" cy="2009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xmlns="" id="{ABCB4BF6-5B25-4FE6-9503-270A46764F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4102239"/>
              </p:ext>
            </p:extLst>
          </p:nvPr>
        </p:nvGraphicFramePr>
        <p:xfrm>
          <a:off x="8031772" y="2327449"/>
          <a:ext cx="3223846" cy="2193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xmlns="" id="{3ACCE2EF-7B0E-4B23-9E74-50D94AA8A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707087"/>
              </p:ext>
            </p:extLst>
          </p:nvPr>
        </p:nvGraphicFramePr>
        <p:xfrm>
          <a:off x="7561386" y="4343690"/>
          <a:ext cx="4211514" cy="2277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2683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Основные функции продукта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FDF6017-6F70-42B6-AD3E-26626D0AC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47849"/>
            <a:ext cx="5157787" cy="657225"/>
          </a:xfrm>
        </p:spPr>
        <p:txBody>
          <a:bodyPr>
            <a:normAutofit/>
          </a:bodyPr>
          <a:lstStyle/>
          <a:p>
            <a:pPr marL="180000" indent="-457200">
              <a:spcBef>
                <a:spcPts val="0"/>
              </a:spcBef>
              <a:buFont typeface="+mj-lt"/>
              <a:buAutoNum type="arabicPeriod"/>
            </a:pPr>
            <a:r>
              <a:rPr lang="ru-RU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Гадания: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60000" lvl="1" algn="just">
              <a:lnSpc>
                <a:spcPct val="15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Ежедневные гадания (до 3 раз в день в бесплатной версии, </a:t>
            </a:r>
            <a:r>
              <a:rPr lang="ru-RU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безлимит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с подпиской).</a:t>
            </a:r>
          </a:p>
          <a:p>
            <a:pPr marL="360000" lvl="1" algn="just">
              <a:lnSpc>
                <a:spcPct val="15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Карта дня Таро: отображается одна карта, фиксируется на 24 часа, анимация переворота при нажатии.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F16BB276-892C-44F5-A1C8-55D84776F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Матрица судьбы: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0C547469-322D-4084-8D80-2BB2C41FFF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Расчет матрицы на основе даты рождения с визуализацией.</a:t>
            </a:r>
          </a:p>
          <a:p>
            <a:pPr lvl="1" algn="just">
              <a:lnSpc>
                <a:spcPct val="15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Подробная расшифровка точек матрицы (часть точек доступна только с подпиской).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971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Основные функции продукта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C1F5B2D2-E83D-4159-B5B5-AEF368F0C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558804"/>
            <a:ext cx="3227387" cy="823912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Гороскопы: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839788" y="2587871"/>
            <a:ext cx="3227387" cy="3684588"/>
          </a:xfrm>
        </p:spPr>
        <p:txBody>
          <a:bodyPr>
            <a:normAutofit fontScale="85000" lnSpcReduction="20000"/>
          </a:bodyPr>
          <a:lstStyle/>
          <a:p>
            <a:pPr marL="360000" lvl="1" algn="just">
              <a:lnSpc>
                <a:spcPct val="16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Персонализированные гороскопы на основе даты рождения.</a:t>
            </a:r>
          </a:p>
          <a:p>
            <a:pPr marL="360000" lvl="1" algn="just">
              <a:lnSpc>
                <a:spcPct val="16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Информация о подходящих камнях и тотемном животном для каждого знака зодиака</a:t>
            </a:r>
            <a: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(только с подпиской)</a:t>
            </a:r>
            <a: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.</a:t>
            </a: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8B1C9FAF-ABA1-41B4-AAC9-B35AEA56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29099" y="1900057"/>
            <a:ext cx="3490546" cy="823912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Развлекательные тесты: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76CBB66B-376E-4E2F-8AC9-0B0BBC235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29100" y="2895602"/>
            <a:ext cx="3227387" cy="3684588"/>
          </a:xfrm>
        </p:spPr>
        <p:txBody>
          <a:bodyPr>
            <a:normAutofit/>
          </a:bodyPr>
          <a:lstStyle/>
          <a:p>
            <a:pPr marL="360000">
              <a:lnSpc>
                <a:spcPct val="170000"/>
              </a:lnSpc>
              <a:buBlip>
                <a:blip r:embed="rId3"/>
              </a:buBlip>
            </a:pPr>
            <a:r>
              <a:rPr lang="ru-RU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Тест «Тип личности по </a:t>
            </a:r>
            <a:r>
              <a:rPr lang="ru-RU" sz="2000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Адизесу</a:t>
            </a:r>
            <a:r>
              <a:rPr lang="ru-RU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(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PAEI)</a:t>
            </a:r>
            <a:r>
              <a:rPr lang="ru-RU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» и другие подобные тесты для вовлечения пользователей.</a:t>
            </a:r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endParaRPr lang="ru-RU" sz="20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xmlns="" id="{3F8053E8-A341-4490-B7B9-B1B915BCF8A8}"/>
              </a:ext>
            </a:extLst>
          </p:cNvPr>
          <p:cNvSpPr txBox="1">
            <a:spLocks/>
          </p:cNvSpPr>
          <p:nvPr/>
        </p:nvSpPr>
        <p:spPr>
          <a:xfrm>
            <a:off x="7881571" y="1558804"/>
            <a:ext cx="32273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5"/>
            </a:pP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Монетизация: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xmlns="" id="{6E4BE863-7709-4C76-A301-1ED3360C3D82}"/>
              </a:ext>
            </a:extLst>
          </p:cNvPr>
          <p:cNvSpPr txBox="1">
            <a:spLocks/>
          </p:cNvSpPr>
          <p:nvPr/>
        </p:nvSpPr>
        <p:spPr>
          <a:xfrm>
            <a:off x="7881570" y="2587871"/>
            <a:ext cx="32273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lvl="1" algn="just">
              <a:lnSpc>
                <a:spcPct val="160000"/>
              </a:lnSpc>
              <a:buFont typeface="Arial" panose="020B0604020202020204" pitchFamily="34" charset="0"/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Бесплатная версия: ограничение на 3 гадания в день, частичная расшифровка матрицы.</a:t>
            </a:r>
          </a:p>
          <a:p>
            <a:pPr marL="360000" lvl="1" algn="just">
              <a:lnSpc>
                <a:spcPct val="160000"/>
              </a:lnSpc>
              <a:buFont typeface="Arial" panose="020B0604020202020204" pitchFamily="34" charset="0"/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Премиум-подписка (990 руб./мес.): безлимитные гадания, полная расшифровка матрицы, полный гороскоп, смена рубашки карт.</a:t>
            </a:r>
          </a:p>
        </p:txBody>
      </p:sp>
    </p:spTree>
    <p:extLst>
      <p:ext uri="{BB962C8B-B14F-4D97-AF65-F5344CB8AC3E}">
        <p14:creationId xmlns:p14="http://schemas.microsoft.com/office/powerpoint/2010/main" val="183292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Оригинальность и </a:t>
            </a:r>
            <a:r>
              <a:rPr lang="ru-RU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инновационность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 rtl="0">
              <a:lnSpc>
                <a:spcPct val="170000"/>
              </a:lnSpc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Новизна проекта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Уникальное сочетание функций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приложение объединяет гадания, матрицу судьбы, гороскопы и развлекательные тесты в одном интерфейсе, что редко встречается в других приложениях.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Интерактивность матрицы судьбы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возможность узнать расшифровку, каждой точки в матрице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Фиксация карты дня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карта Таро фиксируется на 24 часа с анимацией переворота, что добавляет уникальный игровой элемент.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Персонализация гороскопов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включение камней и тотемных животных на основе даты рождения делает гороскопы более индивидуальными.</a:t>
            </a:r>
          </a:p>
          <a:p>
            <a:pPr algn="just">
              <a:lnSpc>
                <a:spcPct val="170000"/>
              </a:lnSpc>
              <a:buBlip>
                <a:blip r:embed="rId3"/>
              </a:buBlip>
            </a:pPr>
            <a:r>
              <a:rPr lang="ru-RU" b="1" dirty="0">
                <a:solidFill>
                  <a:srgbClr val="FFD966"/>
                </a:solidFill>
                <a:latin typeface="Roboto Slab" pitchFamily="2" charset="0"/>
                <a:ea typeface="Roboto Slab" pitchFamily="2" charset="0"/>
              </a:rPr>
              <a:t>Эксклюзивные тесты</a:t>
            </a:r>
            <a:r>
              <a:rPr lang="en-US" b="1" dirty="0">
                <a:solidFill>
                  <a:srgbClr val="FFD966"/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тест по типу личности по </a:t>
            </a:r>
            <a:r>
              <a:rPr lang="ru-RU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Адизесу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(PAEI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), методике </a:t>
            </a:r>
            <a:r>
              <a:rPr lang="ru-RU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Клифтона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, которые почти недоступны русскоязычной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232340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Оригинальность и </a:t>
            </a:r>
            <a:r>
              <a:rPr lang="ru-RU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инновационность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 rtl="0">
              <a:lnSpc>
                <a:spcPct val="170000"/>
              </a:lnSpc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Ключевые преимущества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Простота и доступность: не требует знаний астрологии или эзотерики.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Адаптивный дизайн: матрица центрирована, оптимизирована для разных устройств, без лишних отступов.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Гибкая монетизация: бесплатная версия привлекает пользователей, премиум-подписка мотивирует к покупке.</a:t>
            </a:r>
          </a:p>
          <a:p>
            <a:pPr algn="just" rtl="0">
              <a:lnSpc>
                <a:spcPct val="170000"/>
              </a:lnSpc>
              <a:buBlip>
                <a:blip r:embed="rId3"/>
              </a:buBlip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Отсутствие аналогов: существующие приложения (например, Co-Star, The </a:t>
            </a:r>
            <a:r>
              <a:rPr lang="ru-RU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Pattern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, Матрица судьбы. Нумерология и Таро) фокусируются на гороскопах или гаданиях, но не объединяют матрицу судьбы, тесты и интерактивные элементы в одном продукте с приятным интерфейсом.</a:t>
            </a:r>
          </a:p>
        </p:txBody>
      </p:sp>
    </p:spTree>
    <p:extLst>
      <p:ext uri="{BB962C8B-B14F-4D97-AF65-F5344CB8AC3E}">
        <p14:creationId xmlns:p14="http://schemas.microsoft.com/office/powerpoint/2010/main" val="861066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A6B025-505B-4E0F-86C6-0D0D2E10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D966"/>
                </a:solidFill>
                <a:latin typeface="Playfair Display" pitchFamily="2" charset="-52"/>
              </a:rPr>
              <a:t>Co-Star</a:t>
            </a:r>
            <a:endParaRPr lang="ru-RU" dirty="0">
              <a:solidFill>
                <a:srgbClr val="FFD966"/>
              </a:solidFill>
              <a:latin typeface="Playfair Display" pitchFamily="2" charset="-52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xmlns="" id="{E539F721-9E8B-4092-9C32-7A7A43C70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805803"/>
              </p:ext>
            </p:extLst>
          </p:nvPr>
        </p:nvGraphicFramePr>
        <p:xfrm>
          <a:off x="6372224" y="2720975"/>
          <a:ext cx="4981576" cy="2001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90788">
                  <a:extLst>
                    <a:ext uri="{9D8B030D-6E8A-4147-A177-3AD203B41FA5}">
                      <a16:colId xmlns:a16="http://schemas.microsoft.com/office/drawing/2014/main" xmlns="" val="1335655550"/>
                    </a:ext>
                  </a:extLst>
                </a:gridCol>
                <a:gridCol w="2490788">
                  <a:extLst>
                    <a:ext uri="{9D8B030D-6E8A-4147-A177-3AD203B41FA5}">
                      <a16:colId xmlns:a16="http://schemas.microsoft.com/office/drawing/2014/main" xmlns="" val="444534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Плюсы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Минусы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628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Гороскоп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матрицы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781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Визуально привлекательный 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таро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726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Отсутствует русский язык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745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тестов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83474381"/>
                  </a:ext>
                </a:extLst>
              </a:tr>
            </a:tbl>
          </a:graphicData>
        </a:graphic>
      </p:graphicFrame>
      <p:pic>
        <p:nvPicPr>
          <p:cNvPr id="7" name="Объект 5">
            <a:extLst>
              <a:ext uri="{FF2B5EF4-FFF2-40B4-BE49-F238E27FC236}">
                <a16:creationId xmlns:a16="http://schemas.microsoft.com/office/drawing/2014/main" xmlns="" id="{3CBFDD68-F7FD-40EA-A917-B4EA9BD3D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11" y="1690688"/>
            <a:ext cx="5129289" cy="4351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444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A6B025-505B-4E0F-86C6-0D0D2E10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D966"/>
                </a:solidFill>
                <a:latin typeface="Playfair Display" pitchFamily="2" charset="-52"/>
              </a:rPr>
              <a:t>The Pattern</a:t>
            </a:r>
            <a:endParaRPr lang="ru-RU" dirty="0">
              <a:solidFill>
                <a:srgbClr val="FFD966"/>
              </a:solidFill>
              <a:latin typeface="Playfair Display" pitchFamily="2" charset="-52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xmlns="" id="{E539F721-9E8B-4092-9C32-7A7A43C70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539601"/>
              </p:ext>
            </p:extLst>
          </p:nvPr>
        </p:nvGraphicFramePr>
        <p:xfrm>
          <a:off x="6372224" y="2720975"/>
          <a:ext cx="4981576" cy="1630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90788">
                  <a:extLst>
                    <a:ext uri="{9D8B030D-6E8A-4147-A177-3AD203B41FA5}">
                      <a16:colId xmlns:a16="http://schemas.microsoft.com/office/drawing/2014/main" xmlns="" val="1335655550"/>
                    </a:ext>
                  </a:extLst>
                </a:gridCol>
                <a:gridCol w="2490788">
                  <a:extLst>
                    <a:ext uri="{9D8B030D-6E8A-4147-A177-3AD203B41FA5}">
                      <a16:colId xmlns:a16="http://schemas.microsoft.com/office/drawing/2014/main" xmlns="" val="444534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Плюсы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Минусы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628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Матрица судьбы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таро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781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Визуально привлекательный 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Отсутствует русский язык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726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Гороскоп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тестов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83474381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C192429-53C1-4207-B3F1-2645AB7BB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93" y="1756213"/>
            <a:ext cx="4821892" cy="40336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4568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A6B025-505B-4E0F-86C6-0D0D2E10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D966"/>
                </a:solidFill>
                <a:latin typeface="Playfair Display" pitchFamily="2" charset="-52"/>
              </a:rPr>
              <a:t>Матрица судьбы. Нумерология и Таро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xmlns="" id="{E539F721-9E8B-4092-9C32-7A7A43C70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046394"/>
              </p:ext>
            </p:extLst>
          </p:nvPr>
        </p:nvGraphicFramePr>
        <p:xfrm>
          <a:off x="6372224" y="2720975"/>
          <a:ext cx="4981576" cy="2519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90788">
                  <a:extLst>
                    <a:ext uri="{9D8B030D-6E8A-4147-A177-3AD203B41FA5}">
                      <a16:colId xmlns:a16="http://schemas.microsoft.com/office/drawing/2014/main" xmlns="" val="1335655550"/>
                    </a:ext>
                  </a:extLst>
                </a:gridCol>
                <a:gridCol w="2490788">
                  <a:extLst>
                    <a:ext uri="{9D8B030D-6E8A-4147-A177-3AD203B41FA5}">
                      <a16:colId xmlns:a16="http://schemas.microsoft.com/office/drawing/2014/main" xmlns="" val="444534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Плюсы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Минусы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Roboto Slab" pitchFamily="2" charset="0"/>
                          <a:ea typeface="Roboto Slab" pitchFamily="2" charset="0"/>
                        </a:rPr>
                        <a:t>:</a:t>
                      </a:r>
                      <a:endParaRPr lang="ru-RU" sz="1400" dirty="0">
                        <a:solidFill>
                          <a:schemeClr val="bg1"/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628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Матрица судьбы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расшифровки матрицы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781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Таро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Непривлекательный интерфейс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726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тестов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83474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Отсутствие гороскопа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05059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Много багов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0864730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CD35A28-653D-490B-AF42-90F7245F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1049"/>
            <a:ext cx="5146514" cy="34911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4542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Оригинальность и </a:t>
            </a:r>
            <a:r>
              <a:rPr lang="ru-RU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инновационность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 marL="0" indent="0" algn="just" rtl="0">
              <a:lnSpc>
                <a:spcPct val="160000"/>
              </a:lnSpc>
              <a:buNone/>
            </a:pP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Сравнение с текущим положением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 Slab" pitchFamily="2" charset="0"/>
                <a:ea typeface="Roboto Slab" pitchFamily="2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Без такого приложения пользователи вынуждены:</a:t>
            </a:r>
          </a:p>
          <a:p>
            <a:pPr marL="0" indent="0" algn="just" rtl="0">
              <a:lnSpc>
                <a:spcPct val="160000"/>
              </a:lnSpc>
              <a:buNone/>
            </a:pP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  <a:p>
            <a:pPr marL="0" indent="0" algn="just" rtl="0">
              <a:lnSpc>
                <a:spcPct val="160000"/>
              </a:lnSpc>
              <a:buNone/>
            </a:pP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  <a:p>
            <a:pPr marL="0" indent="0" algn="just" rtl="0">
              <a:lnSpc>
                <a:spcPct val="160000"/>
              </a:lnSpc>
              <a:buNone/>
            </a:pP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  <a:p>
            <a:pPr marL="0" indent="0" algn="just" rtl="0">
              <a:lnSpc>
                <a:spcPct val="160000"/>
              </a:lnSpc>
              <a:buNone/>
            </a:pP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  <a:p>
            <a:pPr marL="0" indent="0" algn="just" rtl="0">
              <a:lnSpc>
                <a:spcPct val="160000"/>
              </a:lnSpc>
              <a:buNone/>
            </a:pPr>
            <a:endParaRPr lang="ru-RU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  <a:p>
            <a:pPr marL="0" indent="0" algn="just" rtl="0">
              <a:lnSpc>
                <a:spcPct val="16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Наше приложение решает эти проблемы, предоставляя доступный, интерактивный и визуально привлекательный инструмент.</a:t>
            </a:r>
            <a:endParaRPr lang="en-US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xmlns="" id="{465C4731-23EA-4936-BE1B-BAC3A1E95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881343"/>
              </p:ext>
            </p:extLst>
          </p:nvPr>
        </p:nvGraphicFramePr>
        <p:xfrm>
          <a:off x="2032000" y="2604453"/>
          <a:ext cx="8128000" cy="2291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13754389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153226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Текущее положение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Минусы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3834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Покупать книги или курсы по астрологии/матрице судьбы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Дорого и сложно</a:t>
                      </a:r>
                    </a:p>
                    <a:p>
                      <a:endParaRPr lang="ru-RU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664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Искать разрозненные онлайн-ресурсы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Неудобно, нет единого интерфейса</a:t>
                      </a:r>
                    </a:p>
                    <a:p>
                      <a:endParaRPr lang="ru-RU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7572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Консультироваться с астрологами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Roboto Slab" pitchFamily="2" charset="0"/>
                          <a:ea typeface="Roboto Slab" pitchFamily="2" charset="0"/>
                        </a:rPr>
                        <a:t>Высокая стоимость, от 2000 руб./сеанс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  <a:p>
                      <a:endParaRPr lang="ru-RU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Roboto Slab" pitchFamily="2" charset="0"/>
                        <a:ea typeface="Roboto Slab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8952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099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ownloads\ind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791" y="1753986"/>
            <a:ext cx="2013056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SER\Downloads\taro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646" y="1753986"/>
            <a:ext cx="2013056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USER\Downloads\profile + dat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827" y="1593072"/>
            <a:ext cx="1762298" cy="468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Разработка дизайна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3516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Разработка серверной части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36994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Приложение использует</a:t>
            </a:r>
            <a:r>
              <a:rPr lang="en-US" b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:</a:t>
            </a:r>
            <a:endParaRPr lang="ru-RU" b="1" dirty="0">
              <a:solidFill>
                <a:schemeClr val="accent4">
                  <a:lumMod val="60000"/>
                  <a:lumOff val="40000"/>
                </a:schemeClr>
              </a:solidFill>
              <a:latin typeface="Playfair Display SemiBold" pitchFamily="2" charset="-52"/>
            </a:endParaRPr>
          </a:p>
        </p:txBody>
      </p:sp>
      <p:sp>
        <p:nvSpPr>
          <p:cNvPr id="7" name="Дуга 6">
            <a:extLst>
              <a:ext uri="{FF2B5EF4-FFF2-40B4-BE49-F238E27FC236}">
                <a16:creationId xmlns:a16="http://schemas.microsoft.com/office/drawing/2014/main" xmlns="" id="{9BF6264D-A680-1D6E-1697-0D9841C2751F}"/>
              </a:ext>
            </a:extLst>
          </p:cNvPr>
          <p:cNvSpPr/>
          <p:nvPr/>
        </p:nvSpPr>
        <p:spPr>
          <a:xfrm rot="3060000">
            <a:off x="1553306" y="2007577"/>
            <a:ext cx="3758711" cy="3260480"/>
          </a:xfrm>
          <a:prstGeom prst="arc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22B2B26-4509-48FD-82B7-9BDBCFFB1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10" y="1699791"/>
            <a:ext cx="4460000" cy="2207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6CDE2C28-B55E-4B2B-BBBF-76964F05C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99" y="1690688"/>
            <a:ext cx="4521011" cy="22075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7F67FDBA-304E-4953-8A9F-428647C39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7313" y="4054358"/>
            <a:ext cx="3976444" cy="22077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515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2400" y="147070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Разработка мобильного приложения </a:t>
            </a:r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«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MYstic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  <a:latin typeface="Playfair Display SemiBold" pitchFamily="2" charset="-52"/>
              </a:rPr>
              <a:t>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5527" y="315884"/>
            <a:ext cx="9144000" cy="1441466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Бюджетное учреждение профессионального образования</a:t>
            </a:r>
            <a:b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Ханты-Мансийского автономного округа-Югры</a:t>
            </a:r>
            <a:b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«</a:t>
            </a:r>
            <a:r>
              <a:rPr lang="ru-RU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Нижневартовский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социально-гуманитарный колледж»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0" y="5378315"/>
            <a:ext cx="9144000" cy="1441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Симеонидис</a:t>
            </a:r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Феона</a:t>
            </a:r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Bookman Old Style" panose="02050604050505020204" pitchFamily="18" charset="0"/>
              </a:rPr>
              <a:t>Александросовна</a:t>
            </a:r>
            <a:endParaRPr lang="ru-RU" dirty="0" smtClean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l"/>
            <a:r>
              <a:rPr lang="ru-RU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Группа 422 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ИСВ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руководитель: </a:t>
            </a:r>
          </a:p>
          <a:p>
            <a:pPr algn="l"/>
            <a:r>
              <a:rPr lang="ru-RU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Комаровских</a:t>
            </a:r>
            <a:r>
              <a:rPr lang="ru-RU" dirty="0">
                <a:solidFill>
                  <a:schemeClr val="bg1"/>
                </a:solidFill>
                <a:latin typeface="Bookman Old Style" panose="02050604050505020204" pitchFamily="18" charset="0"/>
              </a:rPr>
              <a:t> Анна Владимировна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5373231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Сараева Вероника Владимировна</a:t>
            </a:r>
          </a:p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Группа 422 </a:t>
            </a:r>
            <a:r>
              <a:rPr lang="ru-RU" sz="2200" dirty="0">
                <a:solidFill>
                  <a:schemeClr val="bg1"/>
                </a:solidFill>
                <a:latin typeface="Bookman Old Style" panose="02050604050505020204" pitchFamily="18" charset="0"/>
              </a:rPr>
              <a:t>ИСВ</a:t>
            </a:r>
          </a:p>
          <a:p>
            <a:pPr algn="r"/>
            <a:r>
              <a:rPr lang="ru-RU" sz="2200" dirty="0">
                <a:solidFill>
                  <a:schemeClr val="bg1"/>
                </a:solidFill>
                <a:latin typeface="Bookman Old Style" panose="02050604050505020204" pitchFamily="18" charset="0"/>
              </a:rPr>
              <a:t>руководитель: </a:t>
            </a:r>
          </a:p>
          <a:p>
            <a:pPr algn="r"/>
            <a:r>
              <a:rPr lang="ru-RU" sz="2200" dirty="0" smtClean="0">
                <a:solidFill>
                  <a:schemeClr val="bg1"/>
                </a:solidFill>
                <a:latin typeface="Bookman Old Style" panose="02050604050505020204" pitchFamily="18" charset="0"/>
              </a:rPr>
              <a:t>Север Анна Александровна</a:t>
            </a:r>
            <a:endParaRPr lang="ru-RU" sz="2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895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1323</Words>
  <Application>Microsoft Office PowerPoint</Application>
  <PresentationFormat>Произвольный</PresentationFormat>
  <Paragraphs>141</Paragraphs>
  <Slides>20</Slides>
  <Notes>0</Notes>
  <HiddenSlides>1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Разработка мобильного приложения «MYstic»</vt:lpstr>
      <vt:lpstr>Актуальность</vt:lpstr>
      <vt:lpstr>Цель и задачи </vt:lpstr>
      <vt:lpstr>Описание предметной области</vt:lpstr>
      <vt:lpstr>Проблема, потребность, которую решает продукт</vt:lpstr>
      <vt:lpstr>Идея/Принцип продукта</vt:lpstr>
      <vt:lpstr>Целевая аудитория</vt:lpstr>
      <vt:lpstr>Целевая аудитория</vt:lpstr>
      <vt:lpstr>Основные функции продукта</vt:lpstr>
      <vt:lpstr>Основные функции продукта</vt:lpstr>
      <vt:lpstr>Оригинальность и инновационность</vt:lpstr>
      <vt:lpstr>Оригинальность и инновационность</vt:lpstr>
      <vt:lpstr>Co-Star</vt:lpstr>
      <vt:lpstr>The Pattern</vt:lpstr>
      <vt:lpstr>Матрица судьбы. Нумерология и Таро</vt:lpstr>
      <vt:lpstr>Оригинальность и инновационность</vt:lpstr>
      <vt:lpstr>Разработка дизайна</vt:lpstr>
      <vt:lpstr>Разработка серверной части</vt:lpstr>
      <vt:lpstr>Презентация PowerPoint</vt:lpstr>
      <vt:lpstr>Разработка мобильного приложения «MYstic»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Евгения Дубовик</dc:creator>
  <cp:lastModifiedBy>USER</cp:lastModifiedBy>
  <cp:revision>65</cp:revision>
  <dcterms:created xsi:type="dcterms:W3CDTF">2019-03-12T12:59:57Z</dcterms:created>
  <dcterms:modified xsi:type="dcterms:W3CDTF">2026-02-22T16:14:37Z</dcterms:modified>
</cp:coreProperties>
</file>