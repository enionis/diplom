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80" r:id="rId2"/>
    <p:sldId id="281" r:id="rId3"/>
    <p:sldId id="282" r:id="rId4"/>
    <p:sldId id="283" r:id="rId5"/>
    <p:sldId id="284" r:id="rId6"/>
    <p:sldId id="285" r:id="rId7"/>
    <p:sldId id="306" r:id="rId8"/>
    <p:sldId id="286" r:id="rId9"/>
    <p:sldId id="287" r:id="rId10"/>
    <p:sldId id="300" r:id="rId11"/>
    <p:sldId id="299" r:id="rId12"/>
    <p:sldId id="290" r:id="rId13"/>
    <p:sldId id="297" r:id="rId14"/>
    <p:sldId id="305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2"/>
    <a:srgbClr val="A966F8"/>
    <a:srgbClr val="FFFFFF"/>
    <a:srgbClr val="00A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7154" autoAdjust="0"/>
  </p:normalViewPr>
  <p:slideViewPr>
    <p:cSldViewPr snapToGrid="0">
      <p:cViewPr>
        <p:scale>
          <a:sx n="117" d="100"/>
          <a:sy n="117" d="100"/>
        </p:scale>
        <p:origin x="-3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BF5F0-3AD7-4B36-A3B0-0C92FCF709A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B8739-E10E-413F-8DE9-4EC5B6D80C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04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710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3F907-DA55-43D4-81A7-13ED4A275DA6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711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1048712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713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714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B6FB7-BC83-48DF-A6CC-546756D80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44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B6FB7-BC83-48DF-A6CC-546756D8015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705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4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48605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B6FB7-BC83-48DF-A6CC-546756D80159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B6FB7-BC83-48DF-A6CC-546756D80159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B6FB7-BC83-48DF-A6CC-546756D80159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582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04858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58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58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Заголовок 1"/>
          <p:cNvSpPr>
            <a:spLocks noGrp="1"/>
          </p:cNvSpPr>
          <p:nvPr>
            <p:ph type="title"/>
          </p:nvPr>
        </p:nvSpPr>
        <p:spPr>
          <a:xfrm>
            <a:off x="997527" y="382386"/>
            <a:ext cx="10356272" cy="1296786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048590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91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592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593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  <p:sp>
        <p:nvSpPr>
          <p:cNvPr id="1048594" name="Прямоугольник 6"/>
          <p:cNvSpPr/>
          <p:nvPr userDrawn="1"/>
        </p:nvSpPr>
        <p:spPr>
          <a:xfrm>
            <a:off x="0" y="1690688"/>
            <a:ext cx="5195455" cy="45719"/>
          </a:xfrm>
          <a:prstGeom prst="rect">
            <a:avLst/>
          </a:prstGeom>
          <a:solidFill>
            <a:srgbClr val="0072C2"/>
          </a:solidFill>
          <a:ln>
            <a:solidFill>
              <a:srgbClr val="007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97153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336824"/>
            <a:ext cx="992851" cy="992851"/>
          </a:xfrm>
          <a:prstGeom prst="rect">
            <a:avLst/>
          </a:prstGeom>
          <a:noFill/>
        </p:spPr>
      </p:pic>
      <p:sp>
        <p:nvSpPr>
          <p:cNvPr id="1048595" name="Прямоугольник 8"/>
          <p:cNvSpPr/>
          <p:nvPr userDrawn="1"/>
        </p:nvSpPr>
        <p:spPr>
          <a:xfrm>
            <a:off x="2766" y="1743332"/>
            <a:ext cx="5195455" cy="45719"/>
          </a:xfrm>
          <a:prstGeom prst="rect">
            <a:avLst/>
          </a:prstGeom>
          <a:solidFill>
            <a:srgbClr val="00AAFE"/>
          </a:solidFill>
          <a:ln>
            <a:solidFill>
              <a:srgbClr val="00A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76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7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7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7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Заголовок 1"/>
          <p:cNvSpPr>
            <a:spLocks noGrp="1"/>
          </p:cNvSpPr>
          <p:nvPr>
            <p:ph type="title"/>
          </p:nvPr>
        </p:nvSpPr>
        <p:spPr>
          <a:xfrm>
            <a:off x="992850" y="365125"/>
            <a:ext cx="10360949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81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82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83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84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85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  <p:pic>
        <p:nvPicPr>
          <p:cNvPr id="209717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336824"/>
            <a:ext cx="992851" cy="992851"/>
          </a:xfrm>
          <a:prstGeom prst="rect">
            <a:avLst/>
          </a:prstGeom>
          <a:noFill/>
        </p:spPr>
      </p:pic>
      <p:sp>
        <p:nvSpPr>
          <p:cNvPr id="1048686" name="Прямоугольник 8"/>
          <p:cNvSpPr/>
          <p:nvPr userDrawn="1"/>
        </p:nvSpPr>
        <p:spPr>
          <a:xfrm>
            <a:off x="0" y="1690688"/>
            <a:ext cx="6019800" cy="45719"/>
          </a:xfrm>
          <a:prstGeom prst="rect">
            <a:avLst/>
          </a:prstGeom>
          <a:solidFill>
            <a:srgbClr val="0072C2"/>
          </a:solidFill>
          <a:ln>
            <a:solidFill>
              <a:srgbClr val="007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8687" name="Прямоугольник 9"/>
          <p:cNvSpPr/>
          <p:nvPr userDrawn="1"/>
        </p:nvSpPr>
        <p:spPr>
          <a:xfrm>
            <a:off x="2766" y="1743332"/>
            <a:ext cx="6019800" cy="45719"/>
          </a:xfrm>
          <a:prstGeom prst="rect">
            <a:avLst/>
          </a:prstGeom>
          <a:solidFill>
            <a:srgbClr val="00AAFE"/>
          </a:solidFill>
          <a:ln>
            <a:solidFill>
              <a:srgbClr val="00A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Заголовок 1"/>
          <p:cNvSpPr>
            <a:spLocks noGrp="1"/>
          </p:cNvSpPr>
          <p:nvPr>
            <p:ph type="title"/>
          </p:nvPr>
        </p:nvSpPr>
        <p:spPr>
          <a:xfrm>
            <a:off x="992850" y="365125"/>
            <a:ext cx="10362537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89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90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91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92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93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94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95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  <p:sp>
        <p:nvSpPr>
          <p:cNvPr id="1048696" name="Прямоугольник 9"/>
          <p:cNvSpPr/>
          <p:nvPr userDrawn="1"/>
        </p:nvSpPr>
        <p:spPr>
          <a:xfrm>
            <a:off x="0" y="1690688"/>
            <a:ext cx="5997575" cy="45719"/>
          </a:xfrm>
          <a:prstGeom prst="rect">
            <a:avLst/>
          </a:prstGeom>
          <a:solidFill>
            <a:srgbClr val="0072C2"/>
          </a:solidFill>
          <a:ln>
            <a:solidFill>
              <a:srgbClr val="007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8697" name="Прямоугольник 10"/>
          <p:cNvSpPr/>
          <p:nvPr userDrawn="1"/>
        </p:nvSpPr>
        <p:spPr>
          <a:xfrm>
            <a:off x="2766" y="1743332"/>
            <a:ext cx="5997575" cy="45719"/>
          </a:xfrm>
          <a:prstGeom prst="rect">
            <a:avLst/>
          </a:prstGeom>
          <a:solidFill>
            <a:srgbClr val="00AAFE"/>
          </a:solidFill>
          <a:ln>
            <a:solidFill>
              <a:srgbClr val="00A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97175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336824"/>
            <a:ext cx="992851" cy="9928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Заголовок 1"/>
          <p:cNvSpPr>
            <a:spLocks noGrp="1"/>
          </p:cNvSpPr>
          <p:nvPr>
            <p:ph type="title"/>
          </p:nvPr>
        </p:nvSpPr>
        <p:spPr>
          <a:xfrm>
            <a:off x="992850" y="365125"/>
            <a:ext cx="10360949" cy="1325563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048650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51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52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  <p:sp>
        <p:nvSpPr>
          <p:cNvPr id="1048653" name="Прямоугольник 5"/>
          <p:cNvSpPr/>
          <p:nvPr userDrawn="1"/>
        </p:nvSpPr>
        <p:spPr>
          <a:xfrm>
            <a:off x="0" y="1690688"/>
            <a:ext cx="5195455" cy="45719"/>
          </a:xfrm>
          <a:prstGeom prst="rect">
            <a:avLst/>
          </a:prstGeom>
          <a:solidFill>
            <a:srgbClr val="0072C2"/>
          </a:solidFill>
          <a:ln>
            <a:solidFill>
              <a:srgbClr val="007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8654" name="Прямоугольник 6"/>
          <p:cNvSpPr/>
          <p:nvPr userDrawn="1"/>
        </p:nvSpPr>
        <p:spPr>
          <a:xfrm>
            <a:off x="2766" y="1743332"/>
            <a:ext cx="5195455" cy="45719"/>
          </a:xfrm>
          <a:prstGeom prst="rect">
            <a:avLst/>
          </a:prstGeom>
          <a:solidFill>
            <a:srgbClr val="00AAFE"/>
          </a:solidFill>
          <a:ln>
            <a:solidFill>
              <a:srgbClr val="00A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97171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336824"/>
            <a:ext cx="992851" cy="9928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99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700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Заголовок 1"/>
          <p:cNvSpPr>
            <a:spLocks noGrp="1"/>
          </p:cNvSpPr>
          <p:nvPr>
            <p:ph type="title"/>
          </p:nvPr>
        </p:nvSpPr>
        <p:spPr>
          <a:xfrm>
            <a:off x="992851" y="457200"/>
            <a:ext cx="377917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702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703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704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705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706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  <p:sp>
        <p:nvSpPr>
          <p:cNvPr id="1048707" name="Прямоугольник 7"/>
          <p:cNvSpPr/>
          <p:nvPr userDrawn="1"/>
        </p:nvSpPr>
        <p:spPr>
          <a:xfrm>
            <a:off x="0" y="1956699"/>
            <a:ext cx="4769259" cy="48057"/>
          </a:xfrm>
          <a:prstGeom prst="rect">
            <a:avLst/>
          </a:prstGeom>
          <a:solidFill>
            <a:srgbClr val="0072C2"/>
          </a:solidFill>
          <a:ln>
            <a:solidFill>
              <a:srgbClr val="007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8708" name="Прямоугольник 8"/>
          <p:cNvSpPr/>
          <p:nvPr userDrawn="1"/>
        </p:nvSpPr>
        <p:spPr>
          <a:xfrm>
            <a:off x="2766" y="2009343"/>
            <a:ext cx="4769259" cy="48057"/>
          </a:xfrm>
          <a:prstGeom prst="rect">
            <a:avLst/>
          </a:prstGeom>
          <a:solidFill>
            <a:srgbClr val="00AAFE"/>
          </a:solidFill>
          <a:ln>
            <a:solidFill>
              <a:srgbClr val="00A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97176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453206"/>
            <a:ext cx="992851" cy="9928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Заголовок 1"/>
          <p:cNvSpPr>
            <a:spLocks noGrp="1"/>
          </p:cNvSpPr>
          <p:nvPr>
            <p:ph type="title"/>
          </p:nvPr>
        </p:nvSpPr>
        <p:spPr>
          <a:xfrm>
            <a:off x="992851" y="457200"/>
            <a:ext cx="377917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48661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048662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63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64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65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  <p:pic>
        <p:nvPicPr>
          <p:cNvPr id="2097172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453206"/>
            <a:ext cx="992851" cy="992851"/>
          </a:xfrm>
          <a:prstGeom prst="rect">
            <a:avLst/>
          </a:prstGeom>
          <a:noFill/>
        </p:spPr>
      </p:pic>
      <p:sp>
        <p:nvSpPr>
          <p:cNvPr id="1048666" name="Прямоугольник 8"/>
          <p:cNvSpPr/>
          <p:nvPr userDrawn="1"/>
        </p:nvSpPr>
        <p:spPr>
          <a:xfrm>
            <a:off x="0" y="1956699"/>
            <a:ext cx="4769259" cy="48057"/>
          </a:xfrm>
          <a:prstGeom prst="rect">
            <a:avLst/>
          </a:prstGeom>
          <a:solidFill>
            <a:srgbClr val="0072C2"/>
          </a:solidFill>
          <a:ln>
            <a:solidFill>
              <a:srgbClr val="007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8667" name="Прямоугольник 9"/>
          <p:cNvSpPr/>
          <p:nvPr userDrawn="1"/>
        </p:nvSpPr>
        <p:spPr>
          <a:xfrm>
            <a:off x="2766" y="2009343"/>
            <a:ext cx="4769259" cy="48057"/>
          </a:xfrm>
          <a:prstGeom prst="rect">
            <a:avLst/>
          </a:prstGeom>
          <a:solidFill>
            <a:srgbClr val="00AAFE"/>
          </a:solidFill>
          <a:ln>
            <a:solidFill>
              <a:srgbClr val="00A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Заголовок 1"/>
          <p:cNvSpPr>
            <a:spLocks noGrp="1"/>
          </p:cNvSpPr>
          <p:nvPr>
            <p:ph type="title"/>
          </p:nvPr>
        </p:nvSpPr>
        <p:spPr>
          <a:xfrm>
            <a:off x="992850" y="365125"/>
            <a:ext cx="10360949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69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70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71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72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  <p:pic>
        <p:nvPicPr>
          <p:cNvPr id="2097173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336824"/>
            <a:ext cx="992851" cy="992851"/>
          </a:xfrm>
          <a:prstGeom prst="rect">
            <a:avLst/>
          </a:prstGeom>
          <a:noFill/>
        </p:spPr>
      </p:pic>
      <p:sp>
        <p:nvSpPr>
          <p:cNvPr id="1048673" name="Прямоугольник 7"/>
          <p:cNvSpPr/>
          <p:nvPr userDrawn="1"/>
        </p:nvSpPr>
        <p:spPr>
          <a:xfrm>
            <a:off x="0" y="1690688"/>
            <a:ext cx="5195455" cy="45719"/>
          </a:xfrm>
          <a:prstGeom prst="rect">
            <a:avLst/>
          </a:prstGeom>
          <a:solidFill>
            <a:srgbClr val="0072C2"/>
          </a:solidFill>
          <a:ln>
            <a:solidFill>
              <a:srgbClr val="007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8674" name="Прямоугольник 8"/>
          <p:cNvSpPr/>
          <p:nvPr userDrawn="1"/>
        </p:nvSpPr>
        <p:spPr>
          <a:xfrm>
            <a:off x="2766" y="1743332"/>
            <a:ext cx="5195455" cy="45719"/>
          </a:xfrm>
          <a:prstGeom prst="rect">
            <a:avLst/>
          </a:prstGeom>
          <a:solidFill>
            <a:srgbClr val="00AAFE"/>
          </a:solidFill>
          <a:ln>
            <a:solidFill>
              <a:srgbClr val="00A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656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65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65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5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48577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57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B53B6-0648-4BC8-9CBC-C334B9097F6B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104857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4858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13F18-72A5-401B-8F99-4BD8CA6D8A8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Заголовок 1"/>
          <p:cNvSpPr>
            <a:spLocks noGrp="1"/>
          </p:cNvSpPr>
          <p:nvPr>
            <p:ph type="ctrTitle"/>
          </p:nvPr>
        </p:nvSpPr>
        <p:spPr>
          <a:xfrm>
            <a:off x="1437138" y="1647016"/>
            <a:ext cx="9940779" cy="2387600"/>
          </a:xfrm>
        </p:spPr>
        <p:txBody>
          <a:bodyPr anchor="ctr">
            <a:noAutofit/>
          </a:bodyPr>
          <a:lstStyle/>
          <a:p>
            <a:r>
              <a:rPr lang="ru-RU" sz="3600" dirty="0"/>
              <a:t>Разработка клиентской части </a:t>
            </a:r>
            <a:r>
              <a:rPr lang="ru-RU" sz="3600" dirty="0" smtClean="0"/>
              <a:t>мобильного приложения «</a:t>
            </a:r>
            <a:r>
              <a:rPr lang="en-US" sz="3600" dirty="0" err="1" smtClean="0"/>
              <a:t>Mystik</a:t>
            </a:r>
            <a:r>
              <a:rPr lang="ru-RU" sz="3600" dirty="0" smtClean="0"/>
              <a:t>» </a:t>
            </a:r>
            <a:r>
              <a:rPr lang="ru-RU" sz="3600" dirty="0"/>
              <a:t>для </a:t>
            </a:r>
            <a:r>
              <a:rPr lang="ru-RU" sz="3600" dirty="0" smtClean="0"/>
              <a:t>астрологических прогнозов и таро предсказаний</a:t>
            </a:r>
            <a:endParaRPr lang="ru-RU" sz="2000" dirty="0"/>
          </a:p>
        </p:txBody>
      </p:sp>
      <p:sp>
        <p:nvSpPr>
          <p:cNvPr id="104858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99150" y="3895324"/>
            <a:ext cx="6031684" cy="2525086"/>
          </a:xfrm>
        </p:spPr>
        <p:txBody>
          <a:bodyPr>
            <a:noAutofit/>
          </a:bodyPr>
          <a:lstStyle/>
          <a:p>
            <a:pPr algn="r">
              <a:lnSpc>
                <a:spcPct val="114000"/>
              </a:lnSpc>
              <a:spcAft>
                <a:spcPts val="0"/>
              </a:spcAft>
            </a:pPr>
            <a:endParaRPr lang="ru-RU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>
              <a:lnSpc>
                <a:spcPct val="114000"/>
              </a:lnSpc>
              <a:spcAft>
                <a:spcPts val="0"/>
              </a:spcAft>
            </a:pP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Обучающийся 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422 ИСВ</a:t>
            </a:r>
            <a:r>
              <a:rPr lang="en-US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группы</a:t>
            </a:r>
            <a:b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Сараева Вероника Владимировна, </a:t>
            </a: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специальность 09.02.07 Информационные 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системы </a:t>
            </a: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программирование</a:t>
            </a:r>
          </a:p>
          <a:p>
            <a:pPr algn="r">
              <a:lnSpc>
                <a:spcPct val="114000"/>
              </a:lnSpc>
              <a:spcAft>
                <a:spcPts val="0"/>
              </a:spcAft>
            </a:pP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Руководитель дипломного проекта</a:t>
            </a:r>
            <a:b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Анна Александровна Север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b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преподаватель, БУ «</a:t>
            </a:r>
            <a:r>
              <a:rPr lang="ru-RU" sz="16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Нижневартовский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социально-гуманитарный колледж»</a:t>
            </a:r>
          </a:p>
          <a:p>
            <a:pPr algn="r">
              <a:lnSpc>
                <a:spcPct val="114000"/>
              </a:lnSpc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88" name="TextBox 3"/>
          <p:cNvSpPr txBox="1"/>
          <p:nvPr/>
        </p:nvSpPr>
        <p:spPr>
          <a:xfrm>
            <a:off x="1524000" y="475690"/>
            <a:ext cx="914400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0" i="0" dirty="0">
                <a:solidFill>
                  <a:srgbClr val="303030"/>
                </a:solidFill>
                <a:effectLst/>
                <a:latin typeface="PT Sans"/>
              </a:rPr>
              <a:t>Бюджетное учреждение профессионального образования </a:t>
            </a:r>
            <a:br>
              <a:rPr lang="ru-RU" b="0" i="0" dirty="0">
                <a:solidFill>
                  <a:srgbClr val="303030"/>
                </a:solidFill>
                <a:effectLst/>
                <a:latin typeface="PT Sans"/>
              </a:rPr>
            </a:br>
            <a:r>
              <a:rPr lang="ru-RU" b="0" i="0" dirty="0">
                <a:solidFill>
                  <a:srgbClr val="303030"/>
                </a:solidFill>
                <a:effectLst/>
                <a:latin typeface="PT Sans"/>
              </a:rPr>
              <a:t>Ханты-Мансийского автономного округа - Югры </a:t>
            </a:r>
            <a:br>
              <a:rPr lang="ru-RU" b="0" i="0" dirty="0">
                <a:solidFill>
                  <a:srgbClr val="303030"/>
                </a:solidFill>
                <a:effectLst/>
                <a:latin typeface="PT Sans"/>
              </a:rPr>
            </a:br>
            <a:r>
              <a:rPr lang="ru-RU" b="0" i="0" dirty="0">
                <a:solidFill>
                  <a:srgbClr val="303030"/>
                </a:solidFill>
                <a:effectLst/>
                <a:latin typeface="PT Sans"/>
              </a:rPr>
              <a:t>«Нижневартовский социально-гуманитарный колледж»</a:t>
            </a:r>
            <a:endParaRPr lang="ru-RU" dirty="0"/>
          </a:p>
        </p:txBody>
      </p:sp>
      <p:pic>
        <p:nvPicPr>
          <p:cNvPr id="209715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9" y="4866"/>
            <a:ext cx="1428750" cy="1428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Актуальност</a:t>
            </a:r>
            <a:r>
              <a:rPr lang="ru-RU" dirty="0"/>
              <a:t>ь</a:t>
            </a:r>
          </a:p>
        </p:txBody>
      </p:sp>
      <p:sp>
        <p:nvSpPr>
          <p:cNvPr id="1048597" name="Объект 2"/>
          <p:cNvSpPr>
            <a:spLocks noGrp="1"/>
          </p:cNvSpPr>
          <p:nvPr>
            <p:ph idx="1"/>
          </p:nvPr>
        </p:nvSpPr>
        <p:spPr>
          <a:xfrm>
            <a:off x="838200" y="203869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Актуальность: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ru-RU" dirty="0" smtClean="0"/>
              <a:t>Разработка </a:t>
            </a:r>
            <a:r>
              <a:rPr lang="ru-RU" dirty="0"/>
              <a:t>мобильного приложения для астрологических прогнозов и таро-предсказаний является актуальной, так как позволит предоставить пользователю доступ к персонализированному контенту в любое время и в любом </a:t>
            </a:r>
            <a:r>
              <a:rPr lang="ru-RU" dirty="0" smtClean="0"/>
              <a:t>месте.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b="1" dirty="0"/>
              <a:t>Проблема: 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 smtClean="0"/>
              <a:t>Отсутствие </a:t>
            </a:r>
            <a:r>
              <a:rPr lang="ru-RU" dirty="0"/>
              <a:t>удобного и визуально привлекательного мобильного решения, которое объединяет персональные астрологические прогнозы и таро-предсказания, предоставляет структурированный контент и</a:t>
            </a:r>
            <a:br>
              <a:rPr lang="ru-RU" dirty="0"/>
            </a:br>
            <a:r>
              <a:rPr lang="ru-RU" dirty="0"/>
              <a:t>обеспечивает комфортное, эстетически приятное взаимодействие</a:t>
            </a:r>
            <a:br>
              <a:rPr lang="ru-RU" dirty="0"/>
            </a:br>
            <a:r>
              <a:rPr lang="ru-RU" dirty="0"/>
              <a:t>пользователя с сервисом.</a:t>
            </a:r>
          </a:p>
          <a:p>
            <a:pPr marL="0" indent="0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1048599" name="Объект 2"/>
          <p:cNvSpPr>
            <a:spLocks noGrp="1"/>
          </p:cNvSpPr>
          <p:nvPr>
            <p:ph idx="1"/>
          </p:nvPr>
        </p:nvSpPr>
        <p:spPr>
          <a:xfrm>
            <a:off x="838200" y="2056815"/>
            <a:ext cx="10515600" cy="4719541"/>
          </a:xfrm>
        </p:spPr>
        <p:txBody>
          <a:bodyPr>
            <a:normAutofit fontScale="36429" lnSpcReduction="20000"/>
          </a:bodyPr>
          <a:lstStyle/>
          <a:p>
            <a:pPr marL="0" indent="0">
              <a:buNone/>
            </a:pPr>
            <a:r>
              <a:rPr lang="ru-RU" sz="5500" b="1" dirty="0"/>
              <a:t>Цель</a:t>
            </a:r>
            <a:r>
              <a:rPr lang="ru-RU" sz="5500" dirty="0"/>
              <a:t>: Разработать </a:t>
            </a:r>
            <a:r>
              <a:rPr lang="ru-RU" sz="5500" dirty="0" smtClean="0"/>
              <a:t>мобильное приложение «</a:t>
            </a:r>
            <a:r>
              <a:rPr lang="en-US" sz="5500" dirty="0" err="1" smtClean="0"/>
              <a:t>Mystik</a:t>
            </a:r>
            <a:r>
              <a:rPr lang="ru-RU" sz="5500" dirty="0" smtClean="0"/>
              <a:t>» </a:t>
            </a:r>
            <a:endParaRPr lang="ru-RU" sz="5500" dirty="0"/>
          </a:p>
          <a:p>
            <a:pPr marL="0" indent="0">
              <a:buNone/>
            </a:pPr>
            <a:r>
              <a:rPr lang="ru-RU" sz="5500" b="1" dirty="0" smtClean="0"/>
              <a:t>Задачи</a:t>
            </a:r>
            <a:r>
              <a:rPr lang="ru-RU" sz="5500" dirty="0" smtClean="0"/>
              <a:t>:</a:t>
            </a:r>
          </a:p>
          <a:p>
            <a:pPr marL="0" indent="457200">
              <a:buNone/>
            </a:pPr>
            <a:r>
              <a:rPr lang="ru-RU" sz="5500" dirty="0" smtClean="0"/>
              <a:t>•</a:t>
            </a:r>
            <a:r>
              <a:rPr lang="ru-RU" sz="5500" dirty="0"/>
              <a:t>	Анализ предметной области.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lang="ru-RU" sz="5500" dirty="0"/>
              <a:t>•	Проанализировать требования к клиентской части </a:t>
            </a:r>
            <a:r>
              <a:rPr lang="ru-RU" sz="5500" dirty="0" smtClean="0"/>
              <a:t>и</a:t>
            </a:r>
            <a:r>
              <a:rPr lang="en-US" sz="5500" dirty="0" smtClean="0"/>
              <a:t> </a:t>
            </a:r>
            <a:r>
              <a:rPr lang="ru-RU" sz="5500" dirty="0" smtClean="0"/>
              <a:t>определить</a:t>
            </a:r>
            <a:r>
              <a:rPr lang="en-US" sz="5500" dirty="0" smtClean="0"/>
              <a:t> </a:t>
            </a:r>
            <a:r>
              <a:rPr lang="ru-RU" sz="5500" dirty="0" smtClean="0"/>
              <a:t>функциональные </a:t>
            </a:r>
            <a:r>
              <a:rPr lang="ru-RU" sz="5500" dirty="0"/>
              <a:t>и </a:t>
            </a:r>
            <a:r>
              <a:rPr lang="en-US" sz="5500" dirty="0" smtClean="0"/>
              <a:t>	</a:t>
            </a:r>
            <a:r>
              <a:rPr lang="ru-RU" sz="5500" dirty="0" smtClean="0"/>
              <a:t>нефункциональные </a:t>
            </a:r>
            <a:r>
              <a:rPr lang="ru-RU" sz="5500" dirty="0"/>
              <a:t>требования </a:t>
            </a:r>
            <a:r>
              <a:rPr lang="ru-RU" sz="5500" dirty="0" smtClean="0"/>
              <a:t>к </a:t>
            </a:r>
            <a:r>
              <a:rPr lang="ru-RU" sz="5500" dirty="0" err="1" smtClean="0"/>
              <a:t>фронтенду</a:t>
            </a:r>
            <a:r>
              <a:rPr lang="en-US" sz="5500" dirty="0" smtClean="0"/>
              <a:t>.</a:t>
            </a:r>
            <a:endParaRPr lang="ru-RU" sz="5500" dirty="0" smtClean="0"/>
          </a:p>
          <a:p>
            <a:pPr marL="0" indent="457200">
              <a:buNone/>
            </a:pPr>
            <a:r>
              <a:rPr lang="ru-RU" sz="5500" dirty="0" smtClean="0"/>
              <a:t>•	Выбор инструментальных средств.</a:t>
            </a:r>
          </a:p>
          <a:p>
            <a:pPr marL="0" indent="457200">
              <a:buNone/>
            </a:pPr>
            <a:r>
              <a:rPr lang="ru-RU" sz="5500" dirty="0" smtClean="0"/>
              <a:t>•</a:t>
            </a:r>
            <a:r>
              <a:rPr lang="ru-RU" sz="5500" dirty="0"/>
              <a:t>	Спроектировать структуру приложения и навигацию</a:t>
            </a:r>
            <a:r>
              <a:rPr lang="ru-RU" sz="5500" dirty="0" smtClean="0"/>
              <a:t>.</a:t>
            </a:r>
            <a:endParaRPr lang="ru-RU" sz="5500" dirty="0"/>
          </a:p>
          <a:p>
            <a:pPr marL="0" indent="457200">
              <a:buNone/>
            </a:pPr>
            <a:r>
              <a:rPr lang="ru-RU" sz="5500" dirty="0"/>
              <a:t>•	Разработка пользовательского интерфейса.</a:t>
            </a:r>
          </a:p>
          <a:p>
            <a:pPr marL="0" indent="457200">
              <a:buNone/>
            </a:pPr>
            <a:r>
              <a:rPr lang="ru-RU" sz="5500" dirty="0"/>
              <a:t>•	Реализовать клиентскую логику</a:t>
            </a:r>
            <a:r>
              <a:rPr lang="ru-RU" sz="5500" dirty="0" smtClean="0"/>
              <a:t>.</a:t>
            </a:r>
            <a:endParaRPr lang="en-US" sz="5500" dirty="0" smtClean="0"/>
          </a:p>
          <a:p>
            <a:pPr marL="0" indent="457200">
              <a:buNone/>
            </a:pPr>
            <a:r>
              <a:rPr lang="ru-RU" sz="5500" dirty="0"/>
              <a:t>•	Обеспечить взаимодействие с серверной частью</a:t>
            </a:r>
            <a:r>
              <a:rPr lang="ru-RU" sz="5500" dirty="0" smtClean="0"/>
              <a:t>.</a:t>
            </a:r>
            <a:endParaRPr lang="en-US" sz="5500" dirty="0" smtClean="0"/>
          </a:p>
          <a:p>
            <a:pPr marL="0" indent="457200">
              <a:buNone/>
            </a:pPr>
            <a:r>
              <a:rPr lang="ru-RU" sz="5500" dirty="0"/>
              <a:t>•	Реализовать локальное хранение данных</a:t>
            </a:r>
            <a:r>
              <a:rPr lang="ru-RU" sz="5500" dirty="0" smtClean="0"/>
              <a:t>.</a:t>
            </a:r>
            <a:endParaRPr lang="en-US" sz="5500" dirty="0" smtClean="0"/>
          </a:p>
          <a:p>
            <a:pPr marL="0" indent="457200">
              <a:buNone/>
            </a:pPr>
            <a:r>
              <a:rPr lang="ru-RU" sz="5500" dirty="0"/>
              <a:t>•	Обеспечить визуализацию данных и состояний</a:t>
            </a:r>
            <a:r>
              <a:rPr lang="ru-RU" sz="5500" dirty="0" smtClean="0"/>
              <a:t>.</a:t>
            </a:r>
            <a:endParaRPr lang="en-US" sz="5500" dirty="0"/>
          </a:p>
          <a:p>
            <a:pPr marL="0" indent="457200">
              <a:buNone/>
            </a:pPr>
            <a:r>
              <a:rPr lang="ru-RU" sz="5500" dirty="0"/>
              <a:t>•	Провести тестирование разработанного интерфейса и устранить выявленные ошибки</a:t>
            </a:r>
            <a:r>
              <a:rPr lang="ru-RU" sz="5500" dirty="0" smtClean="0"/>
              <a:t>.</a:t>
            </a:r>
            <a:endParaRPr lang="en-US" sz="5500" dirty="0"/>
          </a:p>
          <a:p>
            <a:pPr marL="0" indent="457200">
              <a:buNone/>
            </a:pPr>
            <a:endParaRPr lang="en-US" dirty="0" smtClean="0"/>
          </a:p>
          <a:p>
            <a:pPr marL="0" indent="457200">
              <a:buNone/>
            </a:pPr>
            <a:endParaRPr lang="en-US" dirty="0"/>
          </a:p>
          <a:p>
            <a:pPr marL="0" indent="457200">
              <a:buNone/>
            </a:pPr>
            <a:endParaRPr lang="en-US" dirty="0" smtClean="0"/>
          </a:p>
          <a:p>
            <a:pPr marL="0" indent="45720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Объект</a:t>
            </a:r>
            <a:r>
              <a:rPr lang="ru-RU" dirty="0"/>
              <a:t> </a:t>
            </a:r>
            <a:r>
              <a:rPr lang="ru-RU" dirty="0" smtClean="0"/>
              <a:t>и Предмет исследования</a:t>
            </a:r>
            <a:endParaRPr lang="ru-RU" dirty="0"/>
          </a:p>
        </p:txBody>
      </p:sp>
      <p:sp>
        <p:nvSpPr>
          <p:cNvPr id="1048601" name="Объект 2"/>
          <p:cNvSpPr>
            <a:spLocks noGrp="1"/>
          </p:cNvSpPr>
          <p:nvPr>
            <p:ph idx="1"/>
          </p:nvPr>
        </p:nvSpPr>
        <p:spPr>
          <a:xfrm>
            <a:off x="352426" y="1906292"/>
            <a:ext cx="11106149" cy="44977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b="1" i="1" dirty="0"/>
              <a:t>Объект исследования</a:t>
            </a:r>
            <a:r>
              <a:rPr lang="ru-RU" b="1" dirty="0"/>
              <a:t>: </a:t>
            </a:r>
            <a:endParaRPr lang="ru-RU" b="1" dirty="0" smtClean="0"/>
          </a:p>
          <a:p>
            <a:pPr marL="0" indent="0">
              <a:buNone/>
            </a:pPr>
            <a:r>
              <a:rPr lang="ru-RU" dirty="0"/>
              <a:t>	М</a:t>
            </a:r>
            <a:r>
              <a:rPr lang="ru-RU" dirty="0" smtClean="0"/>
              <a:t>обильное </a:t>
            </a:r>
            <a:r>
              <a:rPr lang="ru-RU" dirty="0"/>
              <a:t>приложение для эзотерических прогнозов (астрология и таро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i="1" dirty="0"/>
              <a:t>Предмет исследования</a:t>
            </a:r>
            <a:r>
              <a:rPr lang="ru-RU" b="1" dirty="0"/>
              <a:t>: </a:t>
            </a:r>
            <a:endParaRPr lang="ru-RU" b="1" dirty="0" smtClean="0"/>
          </a:p>
          <a:p>
            <a:pPr marL="0" indent="0">
              <a:buNone/>
            </a:pPr>
            <a:r>
              <a:rPr lang="ru-RU" dirty="0"/>
              <a:t>	М</a:t>
            </a:r>
            <a:r>
              <a:rPr lang="ru-RU" dirty="0" smtClean="0"/>
              <a:t>етоды </a:t>
            </a:r>
            <a:r>
              <a:rPr lang="ru-RU" dirty="0"/>
              <a:t>и инструменты создания пользовательского интерфейса и клиентской логики, обеспечивающей формирование и отображение астрологических прогнозов и таро-предсказаний.</a:t>
            </a:r>
            <a:endParaRPr lang="ru-RU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Заголовок 1"/>
          <p:cNvSpPr>
            <a:spLocks noGrp="1"/>
          </p:cNvSpPr>
          <p:nvPr>
            <p:ph type="title"/>
          </p:nvPr>
        </p:nvSpPr>
        <p:spPr>
          <a:xfrm>
            <a:off x="997527" y="236764"/>
            <a:ext cx="10356272" cy="1412422"/>
          </a:xfrm>
        </p:spPr>
        <p:txBody>
          <a:bodyPr>
            <a:normAutofit/>
          </a:bodyPr>
          <a:lstStyle/>
          <a:p>
            <a:r>
              <a:rPr lang="ru-RU" sz="4800" dirty="0"/>
              <a:t>Анализ предметной области</a:t>
            </a:r>
          </a:p>
        </p:txBody>
      </p:sp>
      <p:sp>
        <p:nvSpPr>
          <p:cNvPr id="1048607" name="Объект 2"/>
          <p:cNvSpPr>
            <a:spLocks noGrp="1"/>
          </p:cNvSpPr>
          <p:nvPr>
            <p:ph idx="1"/>
          </p:nvPr>
        </p:nvSpPr>
        <p:spPr>
          <a:xfrm>
            <a:off x="299083" y="1796142"/>
            <a:ext cx="11498310" cy="4898572"/>
          </a:xfrm>
        </p:spPr>
        <p:txBody>
          <a:bodyPr anchor="ctr">
            <a:normAutofit fontScale="62500" lnSpcReduction="20000"/>
          </a:bodyPr>
          <a:lstStyle/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ru-RU" sz="3200" i="1" dirty="0">
                <a:latin typeface=""/>
                <a:cs typeface="Times New Roman" panose="02020603050405020304" pitchFamily="18" charset="0"/>
              </a:rPr>
              <a:t>Предметной областью проекта являются сервисы самопознания и развлекательной мистики, реализованные в формате мобильного приложения. Ключевые сущности и процессы включают: </a:t>
            </a: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800"/>
              </a:spcAft>
              <a:buAutoNum type="arabicPeriod"/>
            </a:pPr>
            <a:r>
              <a:rPr lang="ru-RU" b="1" dirty="0">
                <a:latin typeface=""/>
                <a:cs typeface="Times New Roman" panose="02020603050405020304" pitchFamily="18" charset="0"/>
              </a:rPr>
              <a:t>Гадание на картах Таро: 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Процесс генерации случайной выборки карт из колоды для заданного расклада (например, «Карта дня», «Три карты») с последующим отображением описания и интерпретации. Доступ к части раскладов ограничен премиум-подпиской. </a:t>
            </a: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800"/>
              </a:spcAft>
              <a:buAutoNum type="arabicPeriod"/>
            </a:pPr>
            <a:r>
              <a:rPr lang="ru-RU" b="1" dirty="0">
                <a:latin typeface=""/>
                <a:cs typeface="Times New Roman" panose="02020603050405020304" pitchFamily="18" charset="0"/>
              </a:rPr>
              <a:t>Персональный гороскоп: 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Формирование текстового прогноза на основе знака зодиака, определяемого по дате рождения пользователя. </a:t>
            </a: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800"/>
              </a:spcAft>
              <a:buAutoNum type="arabicPeriod"/>
            </a:pPr>
            <a:r>
              <a:rPr lang="ru-RU" b="1" dirty="0">
                <a:latin typeface=""/>
                <a:cs typeface="Times New Roman" panose="02020603050405020304" pitchFamily="18" charset="0"/>
              </a:rPr>
              <a:t>Нумерологический расчет (Матрица судьбы): 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Построение и визуализация нумерологической схемы на основе даты рождения пользователя с выводом расшифровки значений. </a:t>
            </a: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800"/>
              </a:spcAft>
              <a:buAutoNum type="arabicPeriod"/>
            </a:pPr>
            <a:r>
              <a:rPr lang="ru-RU" b="1" dirty="0">
                <a:latin typeface=""/>
                <a:cs typeface="Times New Roman" panose="02020603050405020304" pitchFamily="18" charset="0"/>
              </a:rPr>
              <a:t>Психологические тесты: 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Интерактивные опросники (включая методики, аналогичные тесту </a:t>
            </a:r>
            <a:r>
              <a:rPr lang="ru-RU" dirty="0" err="1">
                <a:latin typeface=""/>
                <a:cs typeface="Times New Roman" panose="02020603050405020304" pitchFamily="18" charset="0"/>
              </a:rPr>
              <a:t>Клифтона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), где на основе ответов пользователя вычисляется результат и отображается интерпретация. Часть тестов является премиум-контентом. </a:t>
            </a: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spcAft>
                <a:spcPts val="800"/>
              </a:spcAft>
              <a:buAutoNum type="arabicPeriod"/>
            </a:pPr>
            <a:r>
              <a:rPr lang="ru-RU" b="1" dirty="0">
                <a:latin typeface=""/>
                <a:cs typeface="Times New Roman" panose="02020603050405020304" pitchFamily="18" charset="0"/>
              </a:rPr>
              <a:t>Управление пользователями и монетизация: 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Поддержка гостевого режима и авторизованных пользователей (по e-</a:t>
            </a:r>
            <a:r>
              <a:rPr lang="ru-RU" dirty="0" err="1">
                <a:latin typeface=""/>
                <a:cs typeface="Times New Roman" panose="02020603050405020304" pitchFamily="18" charset="0"/>
              </a:rPr>
              <a:t>mail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 и паролю) с хранением данных локально на устройстве (</a:t>
            </a:r>
            <a:r>
              <a:rPr lang="ru-RU" dirty="0" err="1">
                <a:latin typeface=""/>
                <a:cs typeface="Times New Roman" panose="02020603050405020304" pitchFamily="18" charset="0"/>
              </a:rPr>
              <a:t>SQLite</a:t>
            </a:r>
            <a:r>
              <a:rPr lang="ru-RU" dirty="0">
                <a:latin typeface=""/>
                <a:cs typeface="Times New Roman" panose="02020603050405020304" pitchFamily="18" charset="0"/>
              </a:rPr>
              <a:t>). Монетизация реализована через премиум-подписку, открывающую расширенный функционал. Попытка оформить подписку без авторизации инициирует переход на экран входа.</a:t>
            </a:r>
            <a:endParaRPr lang="ru-RU" sz="22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Заголовок 1"/>
          <p:cNvSpPr>
            <a:spLocks noGrp="1"/>
          </p:cNvSpPr>
          <p:nvPr>
            <p:ph type="title"/>
          </p:nvPr>
        </p:nvSpPr>
        <p:spPr>
          <a:xfrm>
            <a:off x="997527" y="0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Анализ предметной области</a:t>
            </a:r>
          </a:p>
        </p:txBody>
      </p:sp>
      <p:sp>
        <p:nvSpPr>
          <p:cNvPr id="1048612" name="Заголовок 1"/>
          <p:cNvSpPr txBox="1"/>
          <p:nvPr/>
        </p:nvSpPr>
        <p:spPr>
          <a:xfrm>
            <a:off x="997527" y="824813"/>
            <a:ext cx="10356272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Функциональные возможности пользователей</a:t>
            </a:r>
          </a:p>
        </p:txBody>
      </p:sp>
      <p:sp>
        <p:nvSpPr>
          <p:cNvPr id="2" name="AutoShape 2" descr="blob:https://web.telegram.org/2cfdf163-70d9-483c-a6ac-5ad7afbca37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189" y="1922752"/>
            <a:ext cx="8016277" cy="4853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Заголовок 1"/>
          <p:cNvSpPr>
            <a:spLocks noGrp="1"/>
          </p:cNvSpPr>
          <p:nvPr>
            <p:ph type="title"/>
          </p:nvPr>
        </p:nvSpPr>
        <p:spPr>
          <a:xfrm>
            <a:off x="997527" y="0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Анализ предметной области</a:t>
            </a:r>
          </a:p>
        </p:txBody>
      </p:sp>
      <p:sp>
        <p:nvSpPr>
          <p:cNvPr id="1048612" name="Заголовок 1"/>
          <p:cNvSpPr txBox="1"/>
          <p:nvPr/>
        </p:nvSpPr>
        <p:spPr>
          <a:xfrm>
            <a:off x="997527" y="824813"/>
            <a:ext cx="10356272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Функциональные возможности пользователей</a:t>
            </a:r>
          </a:p>
        </p:txBody>
      </p:sp>
      <p:sp>
        <p:nvSpPr>
          <p:cNvPr id="2" name="AutoShape 2" descr="blob:https://web.telegram.org/2cfdf163-70d9-483c-a6ac-5ad7afbca37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55575" y="1898968"/>
            <a:ext cx="5575754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Функциональный сценарий клиента: </a:t>
            </a:r>
          </a:p>
          <a:p>
            <a:endParaRPr lang="ru-RU" sz="2400" b="1" dirty="0" smtClean="0"/>
          </a:p>
          <a:p>
            <a:pPr>
              <a:lnSpc>
                <a:spcPct val="150000"/>
              </a:lnSpc>
            </a:pPr>
            <a:r>
              <a:rPr lang="ru-RU" dirty="0" smtClean="0"/>
              <a:t>Первый </a:t>
            </a:r>
            <a:r>
              <a:rPr lang="ru-RU" dirty="0"/>
              <a:t>запуск приложения (новый пользователь, гость</a:t>
            </a:r>
            <a:r>
              <a:rPr lang="ru-RU" dirty="0" smtClean="0"/>
              <a:t>):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dirty="0" smtClean="0"/>
              <a:t>Пользователь </a:t>
            </a:r>
            <a:r>
              <a:rPr lang="ru-RU" dirty="0"/>
              <a:t>открывает приложение впервые</a:t>
            </a:r>
            <a:r>
              <a:rPr lang="ru-RU" dirty="0" smtClean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dirty="0" smtClean="0"/>
              <a:t>Приложение </a:t>
            </a:r>
            <a:r>
              <a:rPr lang="ru-RU" dirty="0"/>
              <a:t>проверяет: есть ли </a:t>
            </a:r>
            <a:r>
              <a:rPr lang="ru-RU" dirty="0" smtClean="0"/>
              <a:t>сохранённый идентификатор </a:t>
            </a:r>
            <a:r>
              <a:rPr lang="ru-RU" dirty="0"/>
              <a:t>пользователя в </a:t>
            </a:r>
            <a:r>
              <a:rPr lang="ru-RU" dirty="0" err="1"/>
              <a:t>AsyncStorage</a:t>
            </a:r>
            <a:r>
              <a:rPr lang="ru-RU" dirty="0"/>
              <a:t>? - Ответ: Нет (первый запуск). 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dirty="0" smtClean="0"/>
              <a:t>Устанавливается </a:t>
            </a:r>
            <a:r>
              <a:rPr lang="ru-RU" dirty="0"/>
              <a:t>гостевой режим (</a:t>
            </a:r>
            <a:r>
              <a:rPr lang="ru-RU" dirty="0" err="1"/>
              <a:t>isGuest</a:t>
            </a:r>
            <a:r>
              <a:rPr lang="ru-RU" dirty="0"/>
              <a:t> = </a:t>
            </a:r>
            <a:r>
              <a:rPr lang="ru-RU" dirty="0" err="1"/>
              <a:t>true</a:t>
            </a:r>
            <a:r>
              <a:rPr lang="ru-RU" dirty="0" smtClean="0"/>
              <a:t>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dirty="0" smtClean="0"/>
              <a:t>Открывается </a:t>
            </a:r>
            <a:r>
              <a:rPr lang="ru-RU" dirty="0"/>
              <a:t>главный экран (вкладки: </a:t>
            </a:r>
            <a:r>
              <a:rPr lang="ru-RU" dirty="0" smtClean="0"/>
              <a:t>Таро, Гороскоп</a:t>
            </a:r>
            <a:r>
              <a:rPr lang="ru-RU" dirty="0"/>
              <a:t>, Тесты, Профиль).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921828" y="1437189"/>
            <a:ext cx="6096000" cy="57708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AutoNum type="arabicPeriod" startAt="5"/>
            </a:pPr>
            <a:r>
              <a:rPr lang="ru-RU" dirty="0" smtClean="0"/>
              <a:t>Пользователь </a:t>
            </a:r>
            <a:r>
              <a:rPr lang="ru-RU" dirty="0"/>
              <a:t>может: - Вытянуть карту дня (</a:t>
            </a:r>
            <a:r>
              <a:rPr lang="ru-RU" dirty="0" err="1"/>
              <a:t>useDailyCard</a:t>
            </a:r>
            <a:r>
              <a:rPr lang="ru-RU" dirty="0"/>
              <a:t> проверяет дату → если новый день — можно вытянуть). - Сделать до 3 раскладов Таро за день (</a:t>
            </a:r>
            <a:r>
              <a:rPr lang="ru-RU" dirty="0" err="1"/>
              <a:t>useTarotReadings</a:t>
            </a:r>
            <a:r>
              <a:rPr lang="ru-RU" dirty="0"/>
              <a:t> считает количество). - Посмотреть урезанную версию матрицы судьбы / гороскопа (без ввода даты рождения или с ограничениями). - Пройти бесплатные тесты (результаты сохраняются в </a:t>
            </a:r>
            <a:r>
              <a:rPr lang="ru-RU" dirty="0" err="1"/>
              <a:t>AsyncStorage</a:t>
            </a:r>
            <a:r>
              <a:rPr lang="ru-RU" dirty="0" smtClean="0"/>
              <a:t>). </a:t>
            </a:r>
          </a:p>
          <a:p>
            <a:pPr marL="342900" indent="-342900">
              <a:lnSpc>
                <a:spcPct val="150000"/>
              </a:lnSpc>
              <a:buFontTx/>
              <a:buAutoNum type="arabicPeriod" startAt="5"/>
            </a:pPr>
            <a:r>
              <a:rPr lang="ru-RU" dirty="0"/>
              <a:t>При попытке открыть премиум-функцию (например, 4-й расклад Таро, полный тест или расширенную матрицу): - Появляется сообщение: «Функция доступна только по подписке». - Происходит переход на экран авторизации (/</a:t>
            </a:r>
            <a:r>
              <a:rPr lang="ru-RU" dirty="0" err="1"/>
              <a:t>auth</a:t>
            </a:r>
            <a:r>
              <a:rPr lang="ru-RU" dirty="0"/>
              <a:t>), так как гость не может оформить подписку без аккаунта.</a:t>
            </a:r>
          </a:p>
          <a:p>
            <a:pPr marL="342900" indent="-342900">
              <a:buAutoNum type="arabicPeriod" startAt="5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45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Заголовок 1"/>
          <p:cNvSpPr>
            <a:spLocks noGrp="1"/>
          </p:cNvSpPr>
          <p:nvPr>
            <p:ph type="title"/>
          </p:nvPr>
        </p:nvSpPr>
        <p:spPr>
          <a:xfrm>
            <a:off x="997527" y="0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Разработка программного продукта</a:t>
            </a:r>
          </a:p>
        </p:txBody>
      </p:sp>
      <p:sp>
        <p:nvSpPr>
          <p:cNvPr id="1048615" name="Заголовок 1"/>
          <p:cNvSpPr txBox="1"/>
          <p:nvPr/>
        </p:nvSpPr>
        <p:spPr>
          <a:xfrm>
            <a:off x="997527" y="899743"/>
            <a:ext cx="10356272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Выбор инструментальных средств</a:t>
            </a:r>
          </a:p>
        </p:txBody>
      </p:sp>
      <p:pic>
        <p:nvPicPr>
          <p:cNvPr id="5" name="Рисунок 4" descr="Picture background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2" y="2337026"/>
            <a:ext cx="1845809" cy="1845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E:\!!!КУРСОВАЯ\!Курсовая работа\Доп файлы\vs code logo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608148"/>
            <a:ext cx="1303564" cy="1303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Picture background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860" y="2593860"/>
            <a:ext cx="1332139" cy="1332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Picture background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666" y="4545465"/>
            <a:ext cx="1642383" cy="1642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153" y="4673712"/>
            <a:ext cx="1385887" cy="1385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Заголовок 1"/>
          <p:cNvSpPr>
            <a:spLocks noGrp="1"/>
          </p:cNvSpPr>
          <p:nvPr>
            <p:ph type="title"/>
          </p:nvPr>
        </p:nvSpPr>
        <p:spPr>
          <a:xfrm>
            <a:off x="997527" y="0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Разработка программного продукта</a:t>
            </a:r>
          </a:p>
        </p:txBody>
      </p:sp>
      <p:sp>
        <p:nvSpPr>
          <p:cNvPr id="1048617" name="Объект 2"/>
          <p:cNvSpPr>
            <a:spLocks noGrp="1"/>
          </p:cNvSpPr>
          <p:nvPr>
            <p:ph idx="1"/>
          </p:nvPr>
        </p:nvSpPr>
        <p:spPr>
          <a:xfrm>
            <a:off x="297179" y="1773037"/>
            <a:ext cx="5669281" cy="50452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400" b="1" dirty="0" smtClean="0"/>
              <a:t>Функциональные:</a:t>
            </a:r>
          </a:p>
          <a:p>
            <a:r>
              <a:rPr lang="ru-RU" sz="2400" dirty="0"/>
              <a:t>Отображение персонализированных астрологических прогнозов на основе данных пользователя</a:t>
            </a:r>
          </a:p>
          <a:p>
            <a:r>
              <a:rPr lang="ru-RU" sz="2400" dirty="0"/>
              <a:t>Интерактивный процесс «вытягивания» карт Таро с визуализацией</a:t>
            </a:r>
          </a:p>
          <a:p>
            <a:r>
              <a:rPr lang="ru-RU" sz="2400" dirty="0" smtClean="0"/>
              <a:t>Редактирование </a:t>
            </a:r>
            <a:r>
              <a:rPr lang="ru-RU" sz="2400" dirty="0"/>
              <a:t>профиля и данных пользователя (дата рождения, имя)</a:t>
            </a:r>
          </a:p>
          <a:p>
            <a:r>
              <a:rPr lang="ru-RU" sz="2400" dirty="0"/>
              <a:t>Мгновенная обратная связь при выполнении действий</a:t>
            </a:r>
          </a:p>
        </p:txBody>
      </p:sp>
      <p:sp>
        <p:nvSpPr>
          <p:cNvPr id="1048618" name="Заголовок 1"/>
          <p:cNvSpPr txBox="1"/>
          <p:nvPr/>
        </p:nvSpPr>
        <p:spPr>
          <a:xfrm>
            <a:off x="997527" y="899743"/>
            <a:ext cx="10356272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Требования к </a:t>
            </a:r>
            <a:r>
              <a:rPr lang="ru-RU" sz="3600" dirty="0" smtClean="0"/>
              <a:t>клиентской части</a:t>
            </a:r>
            <a:endParaRPr lang="ru-RU" sz="3600" dirty="0"/>
          </a:p>
        </p:txBody>
      </p:sp>
      <p:sp>
        <p:nvSpPr>
          <p:cNvPr id="11" name="Объект 2"/>
          <p:cNvSpPr txBox="1"/>
          <p:nvPr/>
        </p:nvSpPr>
        <p:spPr>
          <a:xfrm>
            <a:off x="6175663" y="1597776"/>
            <a:ext cx="4663440" cy="5045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b="1" dirty="0" smtClean="0"/>
              <a:t>Нефункциональные:</a:t>
            </a:r>
          </a:p>
          <a:p>
            <a:r>
              <a:rPr lang="ru-RU" sz="2400" dirty="0"/>
              <a:t>Визуальный минимализм: </a:t>
            </a:r>
            <a:r>
              <a:rPr lang="ru-RU" sz="2400" dirty="0" smtClean="0"/>
              <a:t>Крупные </a:t>
            </a:r>
            <a:r>
              <a:rPr lang="ru-RU" sz="2400" dirty="0"/>
              <a:t>интерактивные блоки и понятные иконки</a:t>
            </a:r>
          </a:p>
          <a:p>
            <a:r>
              <a:rPr lang="ru-RU" sz="2400" dirty="0"/>
              <a:t>Кроссплатформенность (</a:t>
            </a:r>
            <a:r>
              <a:rPr lang="ru-RU" sz="2400" dirty="0" err="1"/>
              <a:t>Android</a:t>
            </a:r>
            <a:r>
              <a:rPr lang="ru-RU" sz="2400" dirty="0"/>
              <a:t>, </a:t>
            </a:r>
            <a:r>
              <a:rPr lang="ru-RU" sz="2400" dirty="0" err="1"/>
              <a:t>iOS</a:t>
            </a:r>
            <a:r>
              <a:rPr lang="ru-RU" sz="2400" dirty="0"/>
              <a:t>)</a:t>
            </a:r>
          </a:p>
          <a:p>
            <a:r>
              <a:rPr lang="ru-RU" sz="2400" dirty="0"/>
              <a:t>Задержка отклика интерфейса не более 1 секунды</a:t>
            </a:r>
          </a:p>
          <a:p>
            <a:r>
              <a:rPr lang="ru-RU" sz="2400" dirty="0"/>
              <a:t>Качественное визуальное оформление (изображения карт Таро, астрологические символы)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Заголовок 1"/>
          <p:cNvSpPr>
            <a:spLocks noGrp="1"/>
          </p:cNvSpPr>
          <p:nvPr>
            <p:ph type="title"/>
          </p:nvPr>
        </p:nvSpPr>
        <p:spPr>
          <a:xfrm>
            <a:off x="997527" y="0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Разработка программного продукта</a:t>
            </a:r>
          </a:p>
        </p:txBody>
      </p:sp>
      <p:sp>
        <p:nvSpPr>
          <p:cNvPr id="1048626" name="Заголовок 1"/>
          <p:cNvSpPr txBox="1"/>
          <p:nvPr/>
        </p:nvSpPr>
        <p:spPr>
          <a:xfrm>
            <a:off x="997527" y="899743"/>
            <a:ext cx="10356272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Разработка пользовательского интерфейса и сценариев</a:t>
            </a:r>
          </a:p>
        </p:txBody>
      </p:sp>
      <p:sp>
        <p:nvSpPr>
          <p:cNvPr id="5" name="Заголовок 1"/>
          <p:cNvSpPr txBox="1"/>
          <p:nvPr/>
        </p:nvSpPr>
        <p:spPr>
          <a:xfrm>
            <a:off x="357447" y="3850536"/>
            <a:ext cx="4434989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Главное меню</a:t>
            </a:r>
            <a:endParaRPr lang="ru-RU" b="1" dirty="0"/>
          </a:p>
        </p:txBody>
      </p:sp>
      <p:pic>
        <p:nvPicPr>
          <p:cNvPr id="6" name="Picture 2" descr="C:\Users\USER\Downloads\inde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251" y="2065487"/>
            <a:ext cx="2013056" cy="436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Заголовок 1"/>
          <p:cNvSpPr>
            <a:spLocks noGrp="1"/>
          </p:cNvSpPr>
          <p:nvPr>
            <p:ph type="title"/>
          </p:nvPr>
        </p:nvSpPr>
        <p:spPr>
          <a:xfrm>
            <a:off x="997527" y="0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Разработка программного продукта</a:t>
            </a:r>
          </a:p>
        </p:txBody>
      </p:sp>
      <p:sp>
        <p:nvSpPr>
          <p:cNvPr id="1048626" name="Заголовок 1"/>
          <p:cNvSpPr txBox="1"/>
          <p:nvPr/>
        </p:nvSpPr>
        <p:spPr>
          <a:xfrm>
            <a:off x="997527" y="899743"/>
            <a:ext cx="10356272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Разработка пользовательского интерфейса и сценариев</a:t>
            </a:r>
          </a:p>
        </p:txBody>
      </p:sp>
      <p:sp>
        <p:nvSpPr>
          <p:cNvPr id="5" name="Заголовок 1"/>
          <p:cNvSpPr txBox="1"/>
          <p:nvPr/>
        </p:nvSpPr>
        <p:spPr>
          <a:xfrm>
            <a:off x="384117" y="3922694"/>
            <a:ext cx="2454333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Профиль</a:t>
            </a:r>
            <a:endParaRPr lang="ru-RU" sz="3200" b="1" dirty="0"/>
          </a:p>
        </p:txBody>
      </p:sp>
      <p:pic>
        <p:nvPicPr>
          <p:cNvPr id="6" name="Picture 4" descr="C:\Users\USER\Downloads\profile + dat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330" y="1783635"/>
            <a:ext cx="1762298" cy="468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Заголовок 1"/>
          <p:cNvSpPr>
            <a:spLocks noGrp="1"/>
          </p:cNvSpPr>
          <p:nvPr>
            <p:ph type="title"/>
          </p:nvPr>
        </p:nvSpPr>
        <p:spPr>
          <a:xfrm>
            <a:off x="997527" y="0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Разработка программного продукта</a:t>
            </a:r>
          </a:p>
        </p:txBody>
      </p:sp>
      <p:sp>
        <p:nvSpPr>
          <p:cNvPr id="1048626" name="Заголовок 1"/>
          <p:cNvSpPr txBox="1"/>
          <p:nvPr/>
        </p:nvSpPr>
        <p:spPr>
          <a:xfrm>
            <a:off x="997527" y="899743"/>
            <a:ext cx="10356272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Разработка пользовательского интерфейса и сценариев</a:t>
            </a:r>
          </a:p>
        </p:txBody>
      </p:sp>
      <p:sp>
        <p:nvSpPr>
          <p:cNvPr id="13" name="Заголовок 1"/>
          <p:cNvSpPr txBox="1"/>
          <p:nvPr/>
        </p:nvSpPr>
        <p:spPr>
          <a:xfrm>
            <a:off x="346016" y="4030644"/>
            <a:ext cx="5548597" cy="7940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Раздел «Гадание на Таро»</a:t>
            </a:r>
            <a:endParaRPr lang="ru-RU" b="1" dirty="0"/>
          </a:p>
        </p:txBody>
      </p:sp>
      <p:pic>
        <p:nvPicPr>
          <p:cNvPr id="6" name="Picture 3" descr="C:\Users\USER\Downloads\taro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528" y="1965366"/>
            <a:ext cx="2013056" cy="436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Заголовок 1"/>
          <p:cNvSpPr>
            <a:spLocks noGrp="1"/>
          </p:cNvSpPr>
          <p:nvPr>
            <p:ph type="title"/>
          </p:nvPr>
        </p:nvSpPr>
        <p:spPr>
          <a:xfrm>
            <a:off x="997527" y="240631"/>
            <a:ext cx="10356272" cy="1296786"/>
          </a:xfrm>
        </p:spPr>
        <p:txBody>
          <a:bodyPr>
            <a:normAutofit/>
          </a:bodyPr>
          <a:lstStyle/>
          <a:p>
            <a:r>
              <a:rPr lang="ru-RU" sz="4800" dirty="0"/>
              <a:t>Заключение</a:t>
            </a:r>
          </a:p>
        </p:txBody>
      </p:sp>
      <p:sp>
        <p:nvSpPr>
          <p:cNvPr id="1048648" name="Объект 2"/>
          <p:cNvSpPr>
            <a:spLocks noGrp="1"/>
          </p:cNvSpPr>
          <p:nvPr>
            <p:ph idx="1"/>
          </p:nvPr>
        </p:nvSpPr>
        <p:spPr>
          <a:xfrm>
            <a:off x="160655" y="1425575"/>
            <a:ext cx="11877675" cy="529971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dirty="0"/>
              <a:t>В ходе работы над дипломным проектом </a:t>
            </a:r>
            <a:r>
              <a:rPr lang="ru-RU" dirty="0" smtClean="0"/>
              <a:t>реализован </a:t>
            </a:r>
            <a:r>
              <a:rPr lang="ru-RU" dirty="0" err="1" smtClean="0"/>
              <a:t>пользоваельскй</a:t>
            </a:r>
            <a:r>
              <a:rPr lang="ru-RU" dirty="0" smtClean="0"/>
              <a:t> </a:t>
            </a:r>
            <a:r>
              <a:rPr lang="ru-RU" dirty="0" smtClean="0">
                <a:sym typeface="+mn-ea"/>
              </a:rPr>
              <a:t>и</a:t>
            </a:r>
            <a:r>
              <a:rPr lang="ru-RU" dirty="0" smtClean="0"/>
              <a:t>нтерфейс мобильного приложения «</a:t>
            </a:r>
            <a:r>
              <a:rPr lang="en-US" dirty="0" err="1" smtClean="0"/>
              <a:t>Mystik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Итог</a:t>
            </a:r>
            <a:r>
              <a:rPr lang="ru-RU" dirty="0"/>
              <a:t>: разработан пользовательский интерфейс, ориентированный на комфортное восприятие информации и интуитивно понятное взаимодействие. При проектировании экранов и навигации особое внимание уделялось эргономичности и визуальной доступности</a:t>
            </a:r>
            <a:r>
              <a:rPr lang="ru-RU" altLang="en-US" dirty="0" smtClean="0"/>
              <a:t>.</a:t>
            </a:r>
            <a:endParaRPr lang="en-US" altLang="ru-RU" dirty="0" smtClean="0"/>
          </a:p>
          <a:p>
            <a:r>
              <a:rPr lang="ru-RU" dirty="0" smtClean="0"/>
              <a:t>Готовность</a:t>
            </a:r>
            <a:r>
              <a:rPr lang="ru-RU" dirty="0"/>
              <a:t>: разработанный продукт объединяет эзотерическую тематику с современными технологиями разработки </a:t>
            </a:r>
            <a:r>
              <a:rPr lang="ru-RU" dirty="0" smtClean="0"/>
              <a:t>и </a:t>
            </a:r>
            <a:r>
              <a:rPr lang="ru-RU" dirty="0"/>
              <a:t>готов к </a:t>
            </a:r>
            <a:r>
              <a:rPr lang="ru-RU" dirty="0" smtClean="0"/>
              <a:t>использованию </a:t>
            </a:r>
            <a:r>
              <a:rPr lang="ru-RU" dirty="0"/>
              <a:t>среди целевой аудитории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Заголовок 1"/>
          <p:cNvSpPr>
            <a:spLocks noGrp="1"/>
          </p:cNvSpPr>
          <p:nvPr>
            <p:ph type="ctrTitle"/>
          </p:nvPr>
        </p:nvSpPr>
        <p:spPr>
          <a:xfrm>
            <a:off x="1437138" y="1647016"/>
            <a:ext cx="9940779" cy="2387600"/>
          </a:xfrm>
        </p:spPr>
        <p:txBody>
          <a:bodyPr anchor="ctr">
            <a:noAutofit/>
          </a:bodyPr>
          <a:lstStyle/>
          <a:p>
            <a:r>
              <a:rPr lang="ru-RU" sz="3600" dirty="0"/>
              <a:t>Разработка клиентской части </a:t>
            </a:r>
            <a:r>
              <a:rPr lang="ru-RU" sz="3600" dirty="0" smtClean="0"/>
              <a:t>мобильного приложения «</a:t>
            </a:r>
            <a:r>
              <a:rPr lang="en-US" sz="3600" dirty="0" err="1" smtClean="0"/>
              <a:t>Mystik</a:t>
            </a:r>
            <a:r>
              <a:rPr lang="ru-RU" sz="3600" dirty="0" smtClean="0"/>
              <a:t>» </a:t>
            </a:r>
            <a:r>
              <a:rPr lang="ru-RU" sz="3600" dirty="0"/>
              <a:t>для </a:t>
            </a:r>
            <a:r>
              <a:rPr lang="ru-RU" sz="3600" dirty="0" smtClean="0"/>
              <a:t>астрологических прогнозов и таро предсказаний</a:t>
            </a:r>
            <a:endParaRPr lang="ru-RU" sz="2000" dirty="0"/>
          </a:p>
        </p:txBody>
      </p:sp>
      <p:sp>
        <p:nvSpPr>
          <p:cNvPr id="104858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99150" y="3895324"/>
            <a:ext cx="6031684" cy="2525086"/>
          </a:xfrm>
        </p:spPr>
        <p:txBody>
          <a:bodyPr>
            <a:noAutofit/>
          </a:bodyPr>
          <a:lstStyle/>
          <a:p>
            <a:pPr algn="r">
              <a:lnSpc>
                <a:spcPct val="114000"/>
              </a:lnSpc>
              <a:spcAft>
                <a:spcPts val="0"/>
              </a:spcAft>
            </a:pPr>
            <a:endParaRPr lang="ru-RU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>
              <a:lnSpc>
                <a:spcPct val="114000"/>
              </a:lnSpc>
              <a:spcAft>
                <a:spcPts val="0"/>
              </a:spcAft>
            </a:pP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Обучающийся 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422 ИСВ</a:t>
            </a:r>
            <a:r>
              <a:rPr lang="en-US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группы</a:t>
            </a:r>
            <a:b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Сараева Вероника Владимировна, </a:t>
            </a: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специальность 09.02.07 Информационные 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системы </a:t>
            </a:r>
            <a:r>
              <a:rPr lang="ru-RU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программирование</a:t>
            </a:r>
          </a:p>
          <a:p>
            <a:pPr algn="r">
              <a:lnSpc>
                <a:spcPct val="114000"/>
              </a:lnSpc>
              <a:spcAft>
                <a:spcPts val="0"/>
              </a:spcAft>
            </a:pP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Руководитель дипломного проекта</a:t>
            </a:r>
            <a:b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Анна Александровна Север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b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преподаватель, БУ «</a:t>
            </a:r>
            <a:r>
              <a:rPr lang="ru-RU" sz="1600" dirty="0" err="1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Нижневартовский</a:t>
            </a:r>
            <a:r>
              <a:rPr lang="ru-RU" sz="16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социально-гуманитарный колледж»</a:t>
            </a:r>
          </a:p>
          <a:p>
            <a:pPr algn="r">
              <a:lnSpc>
                <a:spcPct val="114000"/>
              </a:lnSpc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88" name="TextBox 3"/>
          <p:cNvSpPr txBox="1"/>
          <p:nvPr/>
        </p:nvSpPr>
        <p:spPr>
          <a:xfrm>
            <a:off x="1524000" y="475690"/>
            <a:ext cx="914400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0" i="0" dirty="0">
                <a:solidFill>
                  <a:srgbClr val="303030"/>
                </a:solidFill>
                <a:effectLst/>
                <a:latin typeface="PT Sans"/>
              </a:rPr>
              <a:t>Бюджетное учреждение профессионального образования </a:t>
            </a:r>
            <a:br>
              <a:rPr lang="ru-RU" b="0" i="0" dirty="0">
                <a:solidFill>
                  <a:srgbClr val="303030"/>
                </a:solidFill>
                <a:effectLst/>
                <a:latin typeface="PT Sans"/>
              </a:rPr>
            </a:br>
            <a:r>
              <a:rPr lang="ru-RU" b="0" i="0" dirty="0">
                <a:solidFill>
                  <a:srgbClr val="303030"/>
                </a:solidFill>
                <a:effectLst/>
                <a:latin typeface="PT Sans"/>
              </a:rPr>
              <a:t>Ханты-Мансийского автономного округа - Югры </a:t>
            </a:r>
            <a:br>
              <a:rPr lang="ru-RU" b="0" i="0" dirty="0">
                <a:solidFill>
                  <a:srgbClr val="303030"/>
                </a:solidFill>
                <a:effectLst/>
                <a:latin typeface="PT Sans"/>
              </a:rPr>
            </a:br>
            <a:r>
              <a:rPr lang="ru-RU" b="0" i="0" dirty="0">
                <a:solidFill>
                  <a:srgbClr val="303030"/>
                </a:solidFill>
                <a:effectLst/>
                <a:latin typeface="PT Sans"/>
              </a:rPr>
              <a:t>«Нижневартовский социально-гуманитарный колледж»</a:t>
            </a:r>
            <a:endParaRPr lang="ru-RU" dirty="0"/>
          </a:p>
        </p:txBody>
      </p:sp>
      <p:pic>
        <p:nvPicPr>
          <p:cNvPr id="209715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9" y="4866"/>
            <a:ext cx="1428750" cy="1428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90533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612</Words>
  <Application>Microsoft Office PowerPoint</Application>
  <PresentationFormat>Произвольный</PresentationFormat>
  <Paragraphs>89</Paragraphs>
  <Slides>14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Разработка клиентской части мобильного приложения «Mystik» для астрологических прогнозов и таро предсказаний</vt:lpstr>
      <vt:lpstr>Актуальность</vt:lpstr>
      <vt:lpstr>Цель и Задачи проекта</vt:lpstr>
      <vt:lpstr>Объект и Предмет исследования</vt:lpstr>
      <vt:lpstr>Анализ предметной области</vt:lpstr>
      <vt:lpstr>Анализ предметной области</vt:lpstr>
      <vt:lpstr>Анализ предметной области</vt:lpstr>
      <vt:lpstr>Разработка программного продукта</vt:lpstr>
      <vt:lpstr>Разработка программного продукта</vt:lpstr>
      <vt:lpstr>Разработка программного продукта</vt:lpstr>
      <vt:lpstr>Разработка программного продукта</vt:lpstr>
      <vt:lpstr>Разработка программного продукта</vt:lpstr>
      <vt:lpstr>Заключение</vt:lpstr>
      <vt:lpstr>Разработка клиентской части мобильного приложения «Mystik» для астрологических прогнозов и таро предсказаний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дипломного проекта</dc:title>
  <dc:creator>Архипова Надежда Николаевна</dc:creator>
  <cp:lastModifiedBy>USER</cp:lastModifiedBy>
  <cp:revision>187</cp:revision>
  <dcterms:created xsi:type="dcterms:W3CDTF">2025-03-10T18:35:00Z</dcterms:created>
  <dcterms:modified xsi:type="dcterms:W3CDTF">2026-02-25T18:10:15Z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3EAC4CA5657942F09B2EF79E3AD67E0B_13</vt:lpwstr>
  </property>
  <property fmtid="{D5CDD505-2E9C-101B-9397-08002B2CF9AE}" pid="3" name="KSOProductBuildVer">
    <vt:lpwstr>1049-12.2.0.23196</vt:lpwstr>
  </property>
</Properties>
</file>